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3924" autoAdjust="0"/>
  </p:normalViewPr>
  <p:slideViewPr>
    <p:cSldViewPr snapToGrid="0" snapToObjects="1">
      <p:cViewPr varScale="1">
        <p:scale>
          <a:sx n="85" d="100"/>
          <a:sy n="85" d="100"/>
        </p:scale>
        <p:origin x="44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694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Maya, an engineering lead, and Daniel, a FinOps lead. They want the same outcome: productive AI adoption. Maya worries that a guardrail will interrupt a developer in the middle of useful work. Daniel worries that usage-based consumption will turn into unpredictable additional spend. </a:t>
            </a:r>
            <a:r>
              <a:rPr lang="en-US"/>
              <a:t>Cost Compass</a:t>
            </a:r>
            <a:r>
              <a:rPr lang="en-US" dirty="0"/>
              <a:t> gives them one place to test both concerns before either reaches production.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usage-based billing, buying licenses is only part of the decision. The team also needs to understand how included consumption is pooled, when additional usage becomes paid spending, and which controls merely alert versus actually stop usage. That is a FinOps problem: engineering and finance need to agree on guardrails without learning through a surprise invoice or a blocked developer.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manually inventing every tenant, user, budget, and usage event, we describe the situation we want to understand. The Default Set Generator creates a synthetic topology with stable IDs, explicit assumptions, and no live billing history. The Scenario Generator then creates the lesson: ordered usage events, expected outcomes, and the exact thresholds or blocking reasons we want to observe. Both artifacts are deterministic and reviewable as 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open </a:t>
            </a:r>
            <a:r>
              <a:rPr lang="en-US"/>
              <a:t>Cost Compass</a:t>
            </a:r>
            <a:r>
              <a:rPr lang="en-US" dirty="0"/>
              <a:t>. Nothing connects to GitHub, and all data stays in this browser. The dashboard shows the selected synthetic tenant, its included AI-credit pool, seat charges, paid overage, budget alerts, and blocked events. We can switch between a compact teaching dataset and a larger enterprise dataset without touching a real organization.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lesson enables an included-usage control for the AI Innovation cost center. Alice uses all 3,900 credits attributed to that cost center. At the cap, the policy is configured to continue as paid overage rather than block the developer. Alice then consumes 2,400 additional credits. </a:t>
            </a:r>
            <a:r>
              <a:rPr lang="en-US"/>
              <a:t>Cost Compass</a:t>
            </a:r>
            <a:r>
              <a:rPr lang="en-US" dirty="0"/>
              <a:t> predicts and applies the result: the event is accepted, $24 is attributed to paid overage, and the $30 cost-center budget reaches 80 percent, crossing its 75-percent alert. This is the shared decision in concrete terms. Maya sees that the developer continues. Daniel sees the exact funding route, affected budgets, and alert before the policy is deployed.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lesson tests a user-level hard stop. Alice consumes 1,000 credits, worth $10 for this budget, and reaches the limit exactly. That event is accepted. The next event is only one additional credit, but it would move the budget from $10.00 to $10.01. The simulator rejects the complete event, consumes no credits, and changes no counters. Now the interruption is not an abstract fear. Engineering and FinOps can see the exact boundary, the user affected, the reason shown to an operator, and the difference between an alert and a hard stop.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Compass turns a policy conversation into a repeatable workflow: describe the tenant, generate the lesson, simulate the boundary, inspect every affected control, and agree on the guardrail. The result is productive AI adoption without using a surprise invoice as the monitoring system or a blocked developer as the first test case. Understand the rules before the bill arrives.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280160" y="-1005840"/>
            <a:ext cx="4663440" cy="4663440"/>
          </a:xfrm>
          <a:prstGeom prst="ellipse">
            <a:avLst/>
          </a:prstGeom>
          <a:solidFill>
            <a:srgbClr val="0F766E">
              <a:alpha val="55000"/>
            </a:srgbClr>
          </a:solidFill>
          <a:ln w="12700">
            <a:solidFill>
              <a:srgbClr val="0F766E">
                <a:alpha val="0"/>
              </a:srgbClr>
            </a:solidFill>
            <a:prstDash val="solid"/>
          </a:ln>
        </p:spPr>
        <p:txBody>
          <a:bodyPr/>
          <a:lstStyle/>
          <a:p>
            <a:endParaRPr lang="en-BE"/>
          </a:p>
        </p:txBody>
      </p:sp>
      <p:sp>
        <p:nvSpPr>
          <p:cNvPr id="3" name="Shape 1"/>
          <p:cNvSpPr/>
          <p:nvPr/>
        </p:nvSpPr>
        <p:spPr>
          <a:xfrm>
            <a:off x="9418320" y="3840480"/>
            <a:ext cx="4023360" cy="4023360"/>
          </a:xfrm>
          <a:prstGeom prst="ellipse">
            <a:avLst/>
          </a:prstGeom>
          <a:solidFill>
            <a:srgbClr val="6D28D9">
              <a:alpha val="58000"/>
            </a:srgbClr>
          </a:solidFill>
          <a:ln w="12700">
            <a:solidFill>
              <a:srgbClr val="6D28D9">
                <a:alpha val="0"/>
              </a:srgbClr>
            </a:solidFill>
            <a:prstDash val="solid"/>
          </a:ln>
        </p:spPr>
        <p:txBody>
          <a:bodyPr/>
          <a:lstStyle/>
          <a:p>
            <a:endParaRPr lang="en-BE"/>
          </a:p>
        </p:txBody>
      </p:sp>
      <p:sp>
        <p:nvSpPr>
          <p:cNvPr id="4" name="Shape 2"/>
          <p:cNvSpPr/>
          <p:nvPr/>
        </p:nvSpPr>
        <p:spPr>
          <a:xfrm>
            <a:off x="658368" y="530352"/>
            <a:ext cx="2331720" cy="329184"/>
          </a:xfrm>
          <a:prstGeom prst="roundRect">
            <a:avLst>
              <a:gd name="adj" fmla="val 22222"/>
            </a:avLst>
          </a:prstGeom>
          <a:solidFill>
            <a:srgbClr val="CCFBF1"/>
          </a:solidFill>
          <a:ln w="12700">
            <a:solidFill>
              <a:srgbClr val="CCFBF1"/>
            </a:solidFill>
            <a:prstDash val="solid"/>
          </a:ln>
        </p:spPr>
        <p:txBody>
          <a:bodyPr/>
          <a:lstStyle/>
          <a:p>
            <a:endParaRPr lang="en-BE"/>
          </a:p>
        </p:txBody>
      </p:sp>
      <p:sp>
        <p:nvSpPr>
          <p:cNvPr id="5" name="Text 3"/>
          <p:cNvSpPr/>
          <p:nvPr/>
        </p:nvSpPr>
        <p:spPr>
          <a:xfrm>
            <a:off x="731520" y="598932"/>
            <a:ext cx="2185416" cy="146304"/>
          </a:xfrm>
          <a:prstGeom prst="rect">
            <a:avLst/>
          </a:prstGeom>
          <a:noFill/>
          <a:ln/>
        </p:spPr>
        <p:txBody>
          <a:bodyPr wrap="square" lIns="0" tIns="0" rIns="0" bIns="0" rtlCol="0" anchor="ctr"/>
          <a:lstStyle/>
          <a:p>
            <a:pPr marL="0" indent="0" algn="ctr">
              <a:buNone/>
            </a:pPr>
            <a:r>
              <a:rPr lang="en-US" sz="1000" b="1" kern="0" spc="50" dirty="0">
                <a:solidFill>
                  <a:srgbClr val="0F766E"/>
                </a:solidFill>
              </a:rPr>
              <a:t>SIX-MINUTE PRODUCT DEMO</a:t>
            </a:r>
            <a:endParaRPr lang="en-US" sz="1000" dirty="0"/>
          </a:p>
        </p:txBody>
      </p:sp>
      <p:sp>
        <p:nvSpPr>
          <p:cNvPr id="6" name="Text 4"/>
          <p:cNvSpPr/>
          <p:nvPr/>
        </p:nvSpPr>
        <p:spPr>
          <a:xfrm>
            <a:off x="658368" y="1280160"/>
            <a:ext cx="8961120" cy="749808"/>
          </a:xfrm>
          <a:prstGeom prst="rect">
            <a:avLst/>
          </a:prstGeom>
          <a:noFill/>
          <a:ln/>
        </p:spPr>
        <p:txBody>
          <a:bodyPr wrap="square" lIns="0" tIns="0" rIns="0" bIns="0" rtlCol="0" anchor="ctr"/>
          <a:lstStyle/>
          <a:p>
            <a:pPr marL="0" indent="0">
              <a:buNone/>
            </a:pPr>
            <a:r>
              <a:rPr lang="en-US" sz="5000" b="1">
                <a:solidFill>
                  <a:srgbClr val="FFFFFF"/>
                </a:solidFill>
                <a:latin typeface="Aptos Display" pitchFamily="34" charset="0"/>
                <a:ea typeface="Aptos Display" pitchFamily="34" charset="-122"/>
                <a:cs typeface="Aptos Display" pitchFamily="34" charset="-120"/>
              </a:rPr>
              <a:t>GitHub </a:t>
            </a:r>
            <a:r>
              <a:rPr lang="en-US" sz="5000" b="1" dirty="0">
                <a:solidFill>
                  <a:srgbClr val="FFFFFF"/>
                </a:solidFill>
                <a:latin typeface="Aptos Display" pitchFamily="34" charset="0"/>
                <a:ea typeface="Aptos Display" pitchFamily="34" charset="-122"/>
                <a:cs typeface="Aptos Display" pitchFamily="34" charset="-120"/>
              </a:rPr>
              <a:t>Copilot </a:t>
            </a:r>
            <a:r>
              <a:rPr lang="en-US" sz="5000" b="1">
                <a:solidFill>
                  <a:srgbClr val="FFFFFF"/>
                </a:solidFill>
                <a:latin typeface="Aptos Display" pitchFamily="34" charset="0"/>
                <a:ea typeface="Aptos Display" pitchFamily="34" charset="-122"/>
                <a:cs typeface="Aptos Display" pitchFamily="34" charset="-120"/>
              </a:rPr>
              <a:t>Cost Compass</a:t>
            </a:r>
            <a:endParaRPr lang="en-US" sz="5000" dirty="0"/>
          </a:p>
        </p:txBody>
      </p:sp>
      <p:sp>
        <p:nvSpPr>
          <p:cNvPr id="7" name="Text 5"/>
          <p:cNvSpPr/>
          <p:nvPr/>
        </p:nvSpPr>
        <p:spPr>
          <a:xfrm>
            <a:off x="658368" y="2057400"/>
            <a:ext cx="7955280" cy="1481328"/>
          </a:xfrm>
          <a:prstGeom prst="rect">
            <a:avLst/>
          </a:prstGeom>
          <a:noFill/>
          <a:ln/>
        </p:spPr>
        <p:txBody>
          <a:bodyPr wrap="square" lIns="0" tIns="0" rIns="0" bIns="0" rtlCol="0" anchor="ctr">
            <a:normAutofit/>
          </a:bodyPr>
          <a:lstStyle/>
          <a:p>
            <a:pPr marL="0" indent="0">
              <a:buNone/>
            </a:pPr>
            <a:r>
              <a:rPr lang="en-US" sz="4300" b="1" dirty="0">
                <a:solidFill>
                  <a:srgbClr val="2DD4BF"/>
                </a:solidFill>
                <a:latin typeface="Aptos Display" pitchFamily="34" charset="0"/>
                <a:ea typeface="Aptos Display" pitchFamily="34" charset="-122"/>
                <a:cs typeface="Aptos Display" pitchFamily="34" charset="-120"/>
              </a:rPr>
              <a:t>Understand the rules</a:t>
            </a:r>
            <a:endParaRPr lang="en-US" sz="4300" dirty="0"/>
          </a:p>
          <a:p>
            <a:pPr marL="0" indent="0">
              <a:buNone/>
            </a:pPr>
            <a:r>
              <a:rPr lang="en-US" sz="4300" b="1" dirty="0">
                <a:solidFill>
                  <a:srgbClr val="2DD4BF"/>
                </a:solidFill>
                <a:latin typeface="Aptos Display" pitchFamily="34" charset="0"/>
                <a:ea typeface="Aptos Display" pitchFamily="34" charset="-122"/>
                <a:cs typeface="Aptos Display" pitchFamily="34" charset="-120"/>
              </a:rPr>
              <a:t>before the bill arrives.</a:t>
            </a:r>
            <a:endParaRPr lang="en-US" sz="4300" dirty="0"/>
          </a:p>
        </p:txBody>
      </p:sp>
      <p:sp>
        <p:nvSpPr>
          <p:cNvPr id="8" name="Text 6"/>
          <p:cNvSpPr/>
          <p:nvPr/>
        </p:nvSpPr>
        <p:spPr>
          <a:xfrm>
            <a:off x="685800" y="3822192"/>
            <a:ext cx="6766560" cy="457200"/>
          </a:xfrm>
          <a:prstGeom prst="rect">
            <a:avLst/>
          </a:prstGeom>
          <a:noFill/>
          <a:ln/>
        </p:spPr>
        <p:txBody>
          <a:bodyPr wrap="square" lIns="0" tIns="0" rIns="0" bIns="0" rtlCol="0" anchor="ctr"/>
          <a:lstStyle/>
          <a:p>
            <a:pPr marL="0" indent="0">
              <a:buNone/>
            </a:pPr>
            <a:r>
              <a:rPr lang="en-US" sz="2000" dirty="0">
                <a:solidFill>
                  <a:srgbClr val="CBD5E1"/>
                </a:solidFill>
              </a:rPr>
              <a:t>A shared sandbox for engineering velocity and predictable spending.</a:t>
            </a:r>
            <a:endParaRPr lang="en-US" sz="2000" dirty="0"/>
          </a:p>
        </p:txBody>
      </p:sp>
      <p:sp>
        <p:nvSpPr>
          <p:cNvPr id="9" name="Shape 7"/>
          <p:cNvSpPr/>
          <p:nvPr/>
        </p:nvSpPr>
        <p:spPr>
          <a:xfrm>
            <a:off x="685800" y="4407408"/>
            <a:ext cx="4983480" cy="1755648"/>
          </a:xfrm>
          <a:prstGeom prst="roundRect">
            <a:avLst>
              <a:gd name="adj" fmla="val 4167"/>
            </a:avLst>
          </a:prstGeom>
          <a:solidFill>
            <a:srgbClr val="FFFFFF">
              <a:alpha val="95000"/>
            </a:srgbClr>
          </a:solidFill>
          <a:ln w="15240">
            <a:solidFill>
              <a:srgbClr val="FFFFFF">
                <a:alpha val="22000"/>
              </a:srgbClr>
            </a:solidFill>
            <a:prstDash val="solid"/>
          </a:ln>
          <a:effectLst>
            <a:outerShdw blurRad="38100" dist="50800" dir="2700000" algn="bl" rotWithShape="0">
              <a:srgbClr val="000000">
                <a:alpha val="14000"/>
              </a:srgbClr>
            </a:outerShdw>
          </a:effectLst>
        </p:spPr>
        <p:txBody>
          <a:bodyPr/>
          <a:lstStyle/>
          <a:p>
            <a:endParaRPr lang="en-BE"/>
          </a:p>
        </p:txBody>
      </p:sp>
      <p:sp>
        <p:nvSpPr>
          <p:cNvPr id="10" name="Shape 8"/>
          <p:cNvSpPr/>
          <p:nvPr/>
        </p:nvSpPr>
        <p:spPr>
          <a:xfrm>
            <a:off x="1005840" y="4754880"/>
            <a:ext cx="804672" cy="804672"/>
          </a:xfrm>
          <a:prstGeom prst="ellipse">
            <a:avLst/>
          </a:prstGeom>
          <a:solidFill>
            <a:srgbClr val="0F766E"/>
          </a:solidFill>
          <a:ln w="12700">
            <a:solidFill>
              <a:srgbClr val="0F766E"/>
            </a:solidFill>
            <a:prstDash val="solid"/>
          </a:ln>
        </p:spPr>
        <p:txBody>
          <a:bodyPr/>
          <a:lstStyle/>
          <a:p>
            <a:endParaRPr lang="en-BE"/>
          </a:p>
        </p:txBody>
      </p:sp>
      <p:sp>
        <p:nvSpPr>
          <p:cNvPr id="11" name="Text 9"/>
          <p:cNvSpPr/>
          <p:nvPr/>
        </p:nvSpPr>
        <p:spPr>
          <a:xfrm>
            <a:off x="1005840" y="4946904"/>
            <a:ext cx="804672" cy="256032"/>
          </a:xfrm>
          <a:prstGeom prst="rect">
            <a:avLst/>
          </a:prstGeom>
          <a:noFill/>
          <a:ln/>
        </p:spPr>
        <p:txBody>
          <a:bodyPr wrap="square" lIns="0" tIns="0" rIns="0" bIns="0" rtlCol="0" anchor="ctr"/>
          <a:lstStyle/>
          <a:p>
            <a:pPr marL="0" indent="0" algn="ctr">
              <a:buNone/>
            </a:pPr>
            <a:r>
              <a:rPr lang="en-US" sz="2200" b="1" dirty="0">
                <a:solidFill>
                  <a:srgbClr val="FFFFFF"/>
                </a:solidFill>
              </a:rPr>
              <a:t>M</a:t>
            </a:r>
            <a:endParaRPr lang="en-US" sz="2200" dirty="0"/>
          </a:p>
        </p:txBody>
      </p:sp>
      <p:sp>
        <p:nvSpPr>
          <p:cNvPr id="12" name="Text 10"/>
          <p:cNvSpPr/>
          <p:nvPr/>
        </p:nvSpPr>
        <p:spPr>
          <a:xfrm>
            <a:off x="2039112" y="4754880"/>
            <a:ext cx="3154680" cy="310896"/>
          </a:xfrm>
          <a:prstGeom prst="rect">
            <a:avLst/>
          </a:prstGeom>
          <a:noFill/>
          <a:ln/>
        </p:spPr>
        <p:txBody>
          <a:bodyPr wrap="square" lIns="0" tIns="0" rIns="0" bIns="0" rtlCol="0" anchor="ctr"/>
          <a:lstStyle/>
          <a:p>
            <a:pPr marL="0" indent="0">
              <a:buNone/>
            </a:pPr>
            <a:r>
              <a:rPr lang="en-US" sz="2200" b="1" dirty="0">
                <a:solidFill>
                  <a:srgbClr val="111827"/>
                </a:solidFill>
              </a:rPr>
              <a:t>Maya</a:t>
            </a:r>
            <a:endParaRPr lang="en-US" sz="2200" dirty="0"/>
          </a:p>
        </p:txBody>
      </p:sp>
      <p:sp>
        <p:nvSpPr>
          <p:cNvPr id="13" name="Text 11"/>
          <p:cNvSpPr/>
          <p:nvPr/>
        </p:nvSpPr>
        <p:spPr>
          <a:xfrm>
            <a:off x="2039112" y="5166360"/>
            <a:ext cx="3017520" cy="182880"/>
          </a:xfrm>
          <a:prstGeom prst="rect">
            <a:avLst/>
          </a:prstGeom>
          <a:noFill/>
          <a:ln/>
        </p:spPr>
        <p:txBody>
          <a:bodyPr wrap="square" lIns="0" tIns="0" rIns="0" bIns="0" rtlCol="0" anchor="ctr"/>
          <a:lstStyle/>
          <a:p>
            <a:pPr marL="0" indent="0">
              <a:buNone/>
            </a:pPr>
            <a:r>
              <a:rPr lang="en-US" sz="1000" b="1" kern="0" spc="140" dirty="0">
                <a:solidFill>
                  <a:srgbClr val="0F766E"/>
                </a:solidFill>
              </a:rPr>
              <a:t>ENGINEERING LEAD</a:t>
            </a:r>
            <a:endParaRPr lang="en-US" sz="1000" dirty="0"/>
          </a:p>
        </p:txBody>
      </p:sp>
      <p:sp>
        <p:nvSpPr>
          <p:cNvPr id="14" name="Text 12"/>
          <p:cNvSpPr/>
          <p:nvPr/>
        </p:nvSpPr>
        <p:spPr>
          <a:xfrm>
            <a:off x="1005840" y="5577840"/>
            <a:ext cx="4297680" cy="320040"/>
          </a:xfrm>
          <a:prstGeom prst="rect">
            <a:avLst/>
          </a:prstGeom>
          <a:noFill/>
          <a:ln/>
        </p:spPr>
        <p:txBody>
          <a:bodyPr wrap="square" lIns="0" tIns="0" rIns="0" bIns="0" rtlCol="0" anchor="ctr">
            <a:normAutofit/>
          </a:bodyPr>
          <a:lstStyle/>
          <a:p>
            <a:pPr marL="0" indent="0">
              <a:buNone/>
            </a:pPr>
            <a:r>
              <a:rPr lang="en-US" sz="1500" dirty="0">
                <a:solidFill>
                  <a:srgbClr val="334155"/>
                </a:solidFill>
              </a:rPr>
              <a:t>Protect productive developer flow.</a:t>
            </a:r>
            <a:endParaRPr lang="en-US" sz="1500" dirty="0"/>
          </a:p>
        </p:txBody>
      </p:sp>
      <p:sp>
        <p:nvSpPr>
          <p:cNvPr id="15" name="Shape 13"/>
          <p:cNvSpPr/>
          <p:nvPr/>
        </p:nvSpPr>
        <p:spPr>
          <a:xfrm>
            <a:off x="6172200" y="4407408"/>
            <a:ext cx="4983480" cy="1755648"/>
          </a:xfrm>
          <a:prstGeom prst="roundRect">
            <a:avLst>
              <a:gd name="adj" fmla="val 4167"/>
            </a:avLst>
          </a:prstGeom>
          <a:solidFill>
            <a:srgbClr val="FFFFFF">
              <a:alpha val="95000"/>
            </a:srgbClr>
          </a:solidFill>
          <a:ln w="15240">
            <a:solidFill>
              <a:srgbClr val="FFFFFF">
                <a:alpha val="22000"/>
              </a:srgbClr>
            </a:solidFill>
            <a:prstDash val="solid"/>
          </a:ln>
          <a:effectLst>
            <a:outerShdw blurRad="38100" dist="50800" dir="2700000" algn="bl" rotWithShape="0">
              <a:srgbClr val="000000">
                <a:alpha val="14000"/>
              </a:srgbClr>
            </a:outerShdw>
          </a:effectLst>
        </p:spPr>
        <p:txBody>
          <a:bodyPr/>
          <a:lstStyle/>
          <a:p>
            <a:endParaRPr lang="en-BE"/>
          </a:p>
        </p:txBody>
      </p:sp>
      <p:sp>
        <p:nvSpPr>
          <p:cNvPr id="16" name="Shape 14"/>
          <p:cNvSpPr/>
          <p:nvPr/>
        </p:nvSpPr>
        <p:spPr>
          <a:xfrm>
            <a:off x="6492240" y="4754880"/>
            <a:ext cx="804672" cy="804672"/>
          </a:xfrm>
          <a:prstGeom prst="ellipse">
            <a:avLst/>
          </a:prstGeom>
          <a:solidFill>
            <a:srgbClr val="6D28D9"/>
          </a:solidFill>
          <a:ln w="12700">
            <a:solidFill>
              <a:srgbClr val="6D28D9"/>
            </a:solidFill>
            <a:prstDash val="solid"/>
          </a:ln>
        </p:spPr>
        <p:txBody>
          <a:bodyPr/>
          <a:lstStyle/>
          <a:p>
            <a:endParaRPr lang="en-BE"/>
          </a:p>
        </p:txBody>
      </p:sp>
      <p:sp>
        <p:nvSpPr>
          <p:cNvPr id="17" name="Text 15"/>
          <p:cNvSpPr/>
          <p:nvPr/>
        </p:nvSpPr>
        <p:spPr>
          <a:xfrm>
            <a:off x="6492240" y="4946904"/>
            <a:ext cx="804672" cy="256032"/>
          </a:xfrm>
          <a:prstGeom prst="rect">
            <a:avLst/>
          </a:prstGeom>
          <a:noFill/>
          <a:ln/>
        </p:spPr>
        <p:txBody>
          <a:bodyPr wrap="square" lIns="0" tIns="0" rIns="0" bIns="0" rtlCol="0" anchor="ctr"/>
          <a:lstStyle/>
          <a:p>
            <a:pPr marL="0" indent="0" algn="ctr">
              <a:buNone/>
            </a:pPr>
            <a:r>
              <a:rPr lang="en-US" sz="2200" b="1" dirty="0">
                <a:solidFill>
                  <a:srgbClr val="FFFFFF"/>
                </a:solidFill>
              </a:rPr>
              <a:t>D</a:t>
            </a:r>
            <a:endParaRPr lang="en-US" sz="2200" dirty="0"/>
          </a:p>
        </p:txBody>
      </p:sp>
      <p:sp>
        <p:nvSpPr>
          <p:cNvPr id="18" name="Text 16"/>
          <p:cNvSpPr/>
          <p:nvPr/>
        </p:nvSpPr>
        <p:spPr>
          <a:xfrm>
            <a:off x="7525512" y="4754880"/>
            <a:ext cx="3154680" cy="310896"/>
          </a:xfrm>
          <a:prstGeom prst="rect">
            <a:avLst/>
          </a:prstGeom>
          <a:noFill/>
          <a:ln/>
        </p:spPr>
        <p:txBody>
          <a:bodyPr wrap="square" lIns="0" tIns="0" rIns="0" bIns="0" rtlCol="0" anchor="ctr"/>
          <a:lstStyle/>
          <a:p>
            <a:pPr marL="0" indent="0">
              <a:buNone/>
            </a:pPr>
            <a:r>
              <a:rPr lang="en-US" sz="2200" b="1" dirty="0">
                <a:solidFill>
                  <a:srgbClr val="111827"/>
                </a:solidFill>
              </a:rPr>
              <a:t>Daniel</a:t>
            </a:r>
            <a:endParaRPr lang="en-US" sz="2200" dirty="0"/>
          </a:p>
        </p:txBody>
      </p:sp>
      <p:sp>
        <p:nvSpPr>
          <p:cNvPr id="19" name="Text 17"/>
          <p:cNvSpPr/>
          <p:nvPr/>
        </p:nvSpPr>
        <p:spPr>
          <a:xfrm>
            <a:off x="7525512" y="5166360"/>
            <a:ext cx="3017520" cy="182880"/>
          </a:xfrm>
          <a:prstGeom prst="rect">
            <a:avLst/>
          </a:prstGeom>
          <a:noFill/>
          <a:ln/>
        </p:spPr>
        <p:txBody>
          <a:bodyPr wrap="square" lIns="0" tIns="0" rIns="0" bIns="0" rtlCol="0" anchor="ctr"/>
          <a:lstStyle/>
          <a:p>
            <a:pPr marL="0" indent="0">
              <a:buNone/>
            </a:pPr>
            <a:r>
              <a:rPr lang="en-US" sz="1000" b="1" kern="0" spc="140" dirty="0">
                <a:solidFill>
                  <a:srgbClr val="6D28D9"/>
                </a:solidFill>
              </a:rPr>
              <a:t>FINOPS LEAD</a:t>
            </a:r>
            <a:endParaRPr lang="en-US" sz="1000" dirty="0"/>
          </a:p>
        </p:txBody>
      </p:sp>
      <p:sp>
        <p:nvSpPr>
          <p:cNvPr id="20" name="Text 18"/>
          <p:cNvSpPr/>
          <p:nvPr/>
        </p:nvSpPr>
        <p:spPr>
          <a:xfrm>
            <a:off x="6492240" y="5577840"/>
            <a:ext cx="4297680" cy="320040"/>
          </a:xfrm>
          <a:prstGeom prst="rect">
            <a:avLst/>
          </a:prstGeom>
          <a:noFill/>
          <a:ln/>
        </p:spPr>
        <p:txBody>
          <a:bodyPr wrap="square" lIns="0" tIns="0" rIns="0" bIns="0" rtlCol="0" anchor="ctr">
            <a:normAutofit/>
          </a:bodyPr>
          <a:lstStyle/>
          <a:p>
            <a:pPr marL="0" indent="0">
              <a:buNone/>
            </a:pPr>
            <a:r>
              <a:rPr lang="en-US" sz="1500" dirty="0">
                <a:solidFill>
                  <a:srgbClr val="334155"/>
                </a:solidFill>
              </a:rPr>
              <a:t>Make additional spend predictable.</a:t>
            </a:r>
            <a:endParaRPr lang="en-US" sz="1500" dirty="0"/>
          </a:p>
        </p:txBody>
      </p:sp>
      <p:sp>
        <p:nvSpPr>
          <p:cNvPr id="21" name="Text 19"/>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94A3B8"/>
                </a:solidFill>
                <a:latin typeface="Aptos" pitchFamily="34" charset="0"/>
                <a:ea typeface="Aptos" pitchFamily="34" charset="-122"/>
                <a:cs typeface="Aptos" pitchFamily="34" charset="-120"/>
              </a:rPr>
              <a:t>GITHUB </a:t>
            </a:r>
            <a:r>
              <a:rPr lang="en-US" sz="900" b="1" kern="0" spc="140" dirty="0">
                <a:solidFill>
                  <a:srgbClr val="94A3B8"/>
                </a:solidFill>
                <a:latin typeface="Aptos" pitchFamily="34" charset="0"/>
                <a:ea typeface="Aptos" pitchFamily="34" charset="-122"/>
                <a:cs typeface="Aptos" pitchFamily="34" charset="-120"/>
              </a:rPr>
              <a:t>COPILOT </a:t>
            </a:r>
            <a:r>
              <a:rPr lang="en-US" sz="900" b="1" kern="0" spc="140">
                <a:solidFill>
                  <a:srgbClr val="94A3B8"/>
                </a:solidFill>
                <a:latin typeface="Aptos" pitchFamily="34" charset="0"/>
                <a:ea typeface="Aptos" pitchFamily="34" charset="-122"/>
                <a:cs typeface="Aptos" pitchFamily="34" charset="-120"/>
              </a:rPr>
              <a:t>COST COMPASS</a:t>
            </a:r>
            <a:r>
              <a:rPr lang="en-US" sz="900" b="1" kern="0" spc="140" dirty="0">
                <a:solidFill>
                  <a:srgbClr val="94A3B8"/>
                </a:solidFill>
                <a:latin typeface="Aptos" pitchFamily="34" charset="0"/>
                <a:ea typeface="Aptos" pitchFamily="34" charset="-122"/>
                <a:cs typeface="Aptos" pitchFamily="34" charset="-120"/>
              </a:rPr>
              <a:t>  ·  0:00–0:35</a:t>
            </a:r>
            <a:endParaRPr lang="en-US" sz="900" dirty="0"/>
          </a:p>
        </p:txBody>
      </p:sp>
      <p:sp>
        <p:nvSpPr>
          <p:cNvPr id="22" name="Text 20"/>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2DD4BF"/>
                </a:solidFill>
                <a:latin typeface="Aptos" pitchFamily="34" charset="0"/>
                <a:ea typeface="Aptos" pitchFamily="34" charset="-122"/>
                <a:cs typeface="Aptos"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94360" y="438912"/>
            <a:ext cx="10881360" cy="566928"/>
          </a:xfrm>
          <a:prstGeom prst="rect">
            <a:avLst/>
          </a:prstGeom>
          <a:noFill/>
          <a:ln/>
        </p:spPr>
        <p:txBody>
          <a:bodyPr wrap="square" lIns="0" tIns="0" rIns="0" bIns="0" rtlCol="0" anchor="ctr">
            <a:normAutofit/>
          </a:bodyP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Licenses are only the starting point.</a:t>
            </a:r>
            <a:endParaRPr lang="en-US" sz="3100" dirty="0"/>
          </a:p>
        </p:txBody>
      </p:sp>
      <p:sp>
        <p:nvSpPr>
          <p:cNvPr id="3" name="Text 1"/>
          <p:cNvSpPr/>
          <p:nvPr/>
        </p:nvSpPr>
        <p:spPr>
          <a:xfrm>
            <a:off x="612648" y="1060704"/>
            <a:ext cx="10515600" cy="347472"/>
          </a:xfrm>
          <a:prstGeom prst="rect">
            <a:avLst/>
          </a:prstGeom>
          <a:noFill/>
          <a:ln/>
        </p:spPr>
        <p:txBody>
          <a:bodyPr wrap="square" lIns="0" tIns="0" rIns="0" bIns="0" rtlCol="0" anchor="ctr">
            <a:normAutofit/>
          </a:bodyPr>
          <a:lstStyle/>
          <a:p>
            <a:pPr marL="0" indent="0">
              <a:buNone/>
            </a:pPr>
            <a:r>
              <a:rPr lang="en-US" sz="1500" dirty="0">
                <a:solidFill>
                  <a:srgbClr val="64748B"/>
                </a:solidFill>
                <a:latin typeface="Aptos" pitchFamily="34" charset="0"/>
                <a:ea typeface="Aptos" pitchFamily="34" charset="-122"/>
                <a:cs typeface="Aptos" pitchFamily="34" charset="-120"/>
              </a:rPr>
              <a:t>Usage-based billing adds three questions that engineering and finance must answer together.</a:t>
            </a:r>
            <a:endParaRPr lang="en-US" sz="1500" dirty="0"/>
          </a:p>
        </p:txBody>
      </p:sp>
      <p:sp>
        <p:nvSpPr>
          <p:cNvPr id="4" name="Shape 2"/>
          <p:cNvSpPr/>
          <p:nvPr/>
        </p:nvSpPr>
        <p:spPr>
          <a:xfrm>
            <a:off x="731520" y="1874520"/>
            <a:ext cx="2999232" cy="2331720"/>
          </a:xfrm>
          <a:prstGeom prst="roundRect">
            <a:avLst>
              <a:gd name="adj" fmla="val 3137"/>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sp>
        <p:nvSpPr>
          <p:cNvPr id="5" name="Shape 3"/>
          <p:cNvSpPr/>
          <p:nvPr/>
        </p:nvSpPr>
        <p:spPr>
          <a:xfrm>
            <a:off x="960120" y="2130552"/>
            <a:ext cx="594360" cy="594360"/>
          </a:xfrm>
          <a:prstGeom prst="ellipse">
            <a:avLst/>
          </a:prstGeom>
          <a:solidFill>
            <a:srgbClr val="CCFBF1"/>
          </a:solidFill>
          <a:ln w="12700">
            <a:solidFill>
              <a:srgbClr val="CCFBF1"/>
            </a:solidFill>
            <a:prstDash val="solid"/>
          </a:ln>
        </p:spPr>
        <p:txBody>
          <a:bodyPr/>
          <a:lstStyle/>
          <a:p>
            <a:endParaRPr lang="en-BE"/>
          </a:p>
        </p:txBody>
      </p:sp>
      <p:sp>
        <p:nvSpPr>
          <p:cNvPr id="6" name="Text 4"/>
          <p:cNvSpPr/>
          <p:nvPr/>
        </p:nvSpPr>
        <p:spPr>
          <a:xfrm>
            <a:off x="960120" y="2322576"/>
            <a:ext cx="594360" cy="146304"/>
          </a:xfrm>
          <a:prstGeom prst="rect">
            <a:avLst/>
          </a:prstGeom>
          <a:noFill/>
          <a:ln/>
        </p:spPr>
        <p:txBody>
          <a:bodyPr wrap="square" lIns="0" tIns="0" rIns="0" bIns="0" rtlCol="0" anchor="ctr"/>
          <a:lstStyle/>
          <a:p>
            <a:pPr marL="0" indent="0" algn="ctr">
              <a:buNone/>
            </a:pPr>
            <a:r>
              <a:rPr lang="en-US" sz="1100" b="1" dirty="0">
                <a:solidFill>
                  <a:srgbClr val="0F766E"/>
                </a:solidFill>
              </a:rPr>
              <a:t>01</a:t>
            </a:r>
            <a:endParaRPr lang="en-US" sz="1100" dirty="0"/>
          </a:p>
        </p:txBody>
      </p:sp>
      <p:sp>
        <p:nvSpPr>
          <p:cNvPr id="7" name="Text 5"/>
          <p:cNvSpPr/>
          <p:nvPr/>
        </p:nvSpPr>
        <p:spPr>
          <a:xfrm>
            <a:off x="960120" y="2898648"/>
            <a:ext cx="2423160" cy="310896"/>
          </a:xfrm>
          <a:prstGeom prst="rect">
            <a:avLst/>
          </a:prstGeom>
          <a:noFill/>
          <a:ln/>
        </p:spPr>
        <p:txBody>
          <a:bodyPr wrap="square" lIns="0" tIns="0" rIns="0" bIns="0" rtlCol="0" anchor="ctr"/>
          <a:lstStyle/>
          <a:p>
            <a:pPr marL="0" indent="0">
              <a:buNone/>
            </a:pPr>
            <a:r>
              <a:rPr lang="en-US" sz="2200" b="1" dirty="0">
                <a:solidFill>
                  <a:srgbClr val="111827"/>
                </a:solidFill>
              </a:rPr>
              <a:t>Consumption</a:t>
            </a:r>
            <a:endParaRPr lang="en-US" sz="2200" dirty="0"/>
          </a:p>
        </p:txBody>
      </p:sp>
      <p:sp>
        <p:nvSpPr>
          <p:cNvPr id="8" name="Text 6"/>
          <p:cNvSpPr/>
          <p:nvPr/>
        </p:nvSpPr>
        <p:spPr>
          <a:xfrm>
            <a:off x="960120" y="3401568"/>
            <a:ext cx="2404872" cy="566928"/>
          </a:xfrm>
          <a:prstGeom prst="rect">
            <a:avLst/>
          </a:prstGeom>
          <a:noFill/>
          <a:ln/>
        </p:spPr>
        <p:txBody>
          <a:bodyPr wrap="square" lIns="0" tIns="0" rIns="0" bIns="0" rtlCol="0" anchor="ctr">
            <a:normAutofit/>
          </a:bodyPr>
          <a:lstStyle/>
          <a:p>
            <a:pPr marL="0" indent="0">
              <a:buNone/>
            </a:pPr>
            <a:r>
              <a:rPr lang="en-US" sz="1500" dirty="0">
                <a:solidFill>
                  <a:srgbClr val="334155"/>
                </a:solidFill>
              </a:rPr>
              <a:t>How are included AI credits pooled and attributed?</a:t>
            </a:r>
            <a:endParaRPr lang="en-US" sz="1500" dirty="0"/>
          </a:p>
        </p:txBody>
      </p:sp>
      <p:sp>
        <p:nvSpPr>
          <p:cNvPr id="9" name="Shape 7"/>
          <p:cNvSpPr/>
          <p:nvPr/>
        </p:nvSpPr>
        <p:spPr>
          <a:xfrm>
            <a:off x="4233672" y="1874520"/>
            <a:ext cx="2999232" cy="2331720"/>
          </a:xfrm>
          <a:prstGeom prst="roundRect">
            <a:avLst>
              <a:gd name="adj" fmla="val 3137"/>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sp>
        <p:nvSpPr>
          <p:cNvPr id="10" name="Shape 8"/>
          <p:cNvSpPr/>
          <p:nvPr/>
        </p:nvSpPr>
        <p:spPr>
          <a:xfrm>
            <a:off x="4462272" y="2130552"/>
            <a:ext cx="594360" cy="594360"/>
          </a:xfrm>
          <a:prstGeom prst="ellipse">
            <a:avLst/>
          </a:prstGeom>
          <a:solidFill>
            <a:srgbClr val="EDE9FE"/>
          </a:solidFill>
          <a:ln w="12700">
            <a:solidFill>
              <a:srgbClr val="EDE9FE"/>
            </a:solidFill>
            <a:prstDash val="solid"/>
          </a:ln>
        </p:spPr>
        <p:txBody>
          <a:bodyPr/>
          <a:lstStyle/>
          <a:p>
            <a:endParaRPr lang="en-BE"/>
          </a:p>
        </p:txBody>
      </p:sp>
      <p:sp>
        <p:nvSpPr>
          <p:cNvPr id="11" name="Text 9"/>
          <p:cNvSpPr/>
          <p:nvPr/>
        </p:nvSpPr>
        <p:spPr>
          <a:xfrm>
            <a:off x="4462272" y="2322576"/>
            <a:ext cx="594360" cy="146304"/>
          </a:xfrm>
          <a:prstGeom prst="rect">
            <a:avLst/>
          </a:prstGeom>
          <a:noFill/>
          <a:ln/>
        </p:spPr>
        <p:txBody>
          <a:bodyPr wrap="square" lIns="0" tIns="0" rIns="0" bIns="0" rtlCol="0" anchor="ctr"/>
          <a:lstStyle/>
          <a:p>
            <a:pPr marL="0" indent="0" algn="ctr">
              <a:buNone/>
            </a:pPr>
            <a:r>
              <a:rPr lang="en-US" sz="1100" b="1" dirty="0">
                <a:solidFill>
                  <a:srgbClr val="6D28D9"/>
                </a:solidFill>
              </a:rPr>
              <a:t>02</a:t>
            </a:r>
            <a:endParaRPr lang="en-US" sz="1100" dirty="0"/>
          </a:p>
        </p:txBody>
      </p:sp>
      <p:sp>
        <p:nvSpPr>
          <p:cNvPr id="12" name="Text 10"/>
          <p:cNvSpPr/>
          <p:nvPr/>
        </p:nvSpPr>
        <p:spPr>
          <a:xfrm>
            <a:off x="4462272" y="2898648"/>
            <a:ext cx="2423160" cy="310896"/>
          </a:xfrm>
          <a:prstGeom prst="rect">
            <a:avLst/>
          </a:prstGeom>
          <a:noFill/>
          <a:ln/>
        </p:spPr>
        <p:txBody>
          <a:bodyPr wrap="square" lIns="0" tIns="0" rIns="0" bIns="0" rtlCol="0" anchor="ctr"/>
          <a:lstStyle/>
          <a:p>
            <a:pPr marL="0" indent="0">
              <a:buNone/>
            </a:pPr>
            <a:r>
              <a:rPr lang="en-US" sz="2200" b="1" dirty="0">
                <a:solidFill>
                  <a:srgbClr val="111827"/>
                </a:solidFill>
              </a:rPr>
              <a:t>Additional spend</a:t>
            </a:r>
            <a:endParaRPr lang="en-US" sz="2200" dirty="0"/>
          </a:p>
        </p:txBody>
      </p:sp>
      <p:sp>
        <p:nvSpPr>
          <p:cNvPr id="13" name="Text 11"/>
          <p:cNvSpPr/>
          <p:nvPr/>
        </p:nvSpPr>
        <p:spPr>
          <a:xfrm>
            <a:off x="4462272" y="3401568"/>
            <a:ext cx="2404872" cy="566928"/>
          </a:xfrm>
          <a:prstGeom prst="rect">
            <a:avLst/>
          </a:prstGeom>
          <a:noFill/>
          <a:ln/>
        </p:spPr>
        <p:txBody>
          <a:bodyPr wrap="square" lIns="0" tIns="0" rIns="0" bIns="0" rtlCol="0" anchor="ctr">
            <a:normAutofit/>
          </a:bodyPr>
          <a:lstStyle/>
          <a:p>
            <a:pPr marL="0" indent="0">
              <a:buNone/>
            </a:pPr>
            <a:r>
              <a:rPr lang="en-US" sz="1500" dirty="0">
                <a:solidFill>
                  <a:srgbClr val="334155"/>
                </a:solidFill>
              </a:rPr>
              <a:t>When does usage become paid overage, and whose budget moves?</a:t>
            </a:r>
            <a:endParaRPr lang="en-US" sz="1500" dirty="0"/>
          </a:p>
        </p:txBody>
      </p:sp>
      <p:sp>
        <p:nvSpPr>
          <p:cNvPr id="14" name="Shape 12"/>
          <p:cNvSpPr/>
          <p:nvPr/>
        </p:nvSpPr>
        <p:spPr>
          <a:xfrm>
            <a:off x="7735824" y="1874520"/>
            <a:ext cx="2999232" cy="2331720"/>
          </a:xfrm>
          <a:prstGeom prst="roundRect">
            <a:avLst>
              <a:gd name="adj" fmla="val 3137"/>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sp>
        <p:nvSpPr>
          <p:cNvPr id="15" name="Shape 13"/>
          <p:cNvSpPr/>
          <p:nvPr/>
        </p:nvSpPr>
        <p:spPr>
          <a:xfrm>
            <a:off x="7964424" y="2130552"/>
            <a:ext cx="594360" cy="594360"/>
          </a:xfrm>
          <a:prstGeom prst="ellipse">
            <a:avLst/>
          </a:prstGeom>
          <a:solidFill>
            <a:srgbClr val="FEE2E2"/>
          </a:solidFill>
          <a:ln w="12700">
            <a:solidFill>
              <a:srgbClr val="FEE2E2"/>
            </a:solidFill>
            <a:prstDash val="solid"/>
          </a:ln>
        </p:spPr>
        <p:txBody>
          <a:bodyPr/>
          <a:lstStyle/>
          <a:p>
            <a:endParaRPr lang="en-BE"/>
          </a:p>
        </p:txBody>
      </p:sp>
      <p:sp>
        <p:nvSpPr>
          <p:cNvPr id="16" name="Text 14"/>
          <p:cNvSpPr/>
          <p:nvPr/>
        </p:nvSpPr>
        <p:spPr>
          <a:xfrm>
            <a:off x="7964424" y="2322576"/>
            <a:ext cx="594360" cy="146304"/>
          </a:xfrm>
          <a:prstGeom prst="rect">
            <a:avLst/>
          </a:prstGeom>
          <a:noFill/>
          <a:ln/>
        </p:spPr>
        <p:txBody>
          <a:bodyPr wrap="square" lIns="0" tIns="0" rIns="0" bIns="0" rtlCol="0" anchor="ctr"/>
          <a:lstStyle/>
          <a:p>
            <a:pPr marL="0" indent="0" algn="ctr">
              <a:buNone/>
            </a:pPr>
            <a:r>
              <a:rPr lang="en-US" sz="1100" b="1" dirty="0">
                <a:solidFill>
                  <a:srgbClr val="DC2626"/>
                </a:solidFill>
              </a:rPr>
              <a:t>03</a:t>
            </a:r>
            <a:endParaRPr lang="en-US" sz="1100" dirty="0"/>
          </a:p>
        </p:txBody>
      </p:sp>
      <p:sp>
        <p:nvSpPr>
          <p:cNvPr id="17" name="Text 15"/>
          <p:cNvSpPr/>
          <p:nvPr/>
        </p:nvSpPr>
        <p:spPr>
          <a:xfrm>
            <a:off x="7964424" y="2898648"/>
            <a:ext cx="2423160" cy="310896"/>
          </a:xfrm>
          <a:prstGeom prst="rect">
            <a:avLst/>
          </a:prstGeom>
          <a:noFill/>
          <a:ln/>
        </p:spPr>
        <p:txBody>
          <a:bodyPr wrap="square" lIns="0" tIns="0" rIns="0" bIns="0" rtlCol="0" anchor="ctr"/>
          <a:lstStyle/>
          <a:p>
            <a:pPr marL="0" indent="0">
              <a:buNone/>
            </a:pPr>
            <a:r>
              <a:rPr lang="en-US" sz="2200" b="1" dirty="0">
                <a:solidFill>
                  <a:srgbClr val="111827"/>
                </a:solidFill>
              </a:rPr>
              <a:t>Stop conditions</a:t>
            </a:r>
            <a:endParaRPr lang="en-US" sz="2200" dirty="0"/>
          </a:p>
        </p:txBody>
      </p:sp>
      <p:sp>
        <p:nvSpPr>
          <p:cNvPr id="18" name="Text 16"/>
          <p:cNvSpPr/>
          <p:nvPr/>
        </p:nvSpPr>
        <p:spPr>
          <a:xfrm>
            <a:off x="7964424" y="3401568"/>
            <a:ext cx="2404872" cy="566928"/>
          </a:xfrm>
          <a:prstGeom prst="rect">
            <a:avLst/>
          </a:prstGeom>
          <a:noFill/>
          <a:ln/>
        </p:spPr>
        <p:txBody>
          <a:bodyPr wrap="square" lIns="0" tIns="0" rIns="0" bIns="0" rtlCol="0" anchor="ctr">
            <a:normAutofit/>
          </a:bodyPr>
          <a:lstStyle/>
          <a:p>
            <a:pPr marL="0" indent="0">
              <a:buNone/>
            </a:pPr>
            <a:r>
              <a:rPr lang="en-US" sz="1500" dirty="0">
                <a:solidFill>
                  <a:srgbClr val="334155"/>
                </a:solidFill>
              </a:rPr>
              <a:t>Which controls only alert, and which stop usage?</a:t>
            </a:r>
            <a:endParaRPr lang="en-US" sz="1500" dirty="0"/>
          </a:p>
        </p:txBody>
      </p:sp>
      <p:sp>
        <p:nvSpPr>
          <p:cNvPr id="19" name="Shape 17"/>
          <p:cNvSpPr/>
          <p:nvPr/>
        </p:nvSpPr>
        <p:spPr>
          <a:xfrm>
            <a:off x="1417320" y="4709160"/>
            <a:ext cx="9326880" cy="960120"/>
          </a:xfrm>
          <a:prstGeom prst="roundRect">
            <a:avLst>
              <a:gd name="adj" fmla="val 7619"/>
            </a:avLst>
          </a:prstGeom>
          <a:solidFill>
            <a:srgbClr val="0F172A"/>
          </a:solidFill>
          <a:ln w="12700">
            <a:solidFill>
              <a:srgbClr val="0F172A"/>
            </a:solidFill>
            <a:prstDash val="solid"/>
          </a:ln>
        </p:spPr>
        <p:txBody>
          <a:bodyPr/>
          <a:lstStyle/>
          <a:p>
            <a:endParaRPr lang="en-BE"/>
          </a:p>
        </p:txBody>
      </p:sp>
      <p:sp>
        <p:nvSpPr>
          <p:cNvPr id="20" name="Text 18"/>
          <p:cNvSpPr/>
          <p:nvPr/>
        </p:nvSpPr>
        <p:spPr>
          <a:xfrm>
            <a:off x="1737360" y="4965192"/>
            <a:ext cx="1874520" cy="219456"/>
          </a:xfrm>
          <a:prstGeom prst="rect">
            <a:avLst/>
          </a:prstGeom>
          <a:noFill/>
          <a:ln/>
        </p:spPr>
        <p:txBody>
          <a:bodyPr wrap="square" lIns="0" tIns="0" rIns="0" bIns="0" rtlCol="0" anchor="ctr"/>
          <a:lstStyle/>
          <a:p>
            <a:pPr marL="0" indent="0">
              <a:buNone/>
            </a:pPr>
            <a:r>
              <a:rPr lang="en-US" sz="1300" b="1" kern="0" spc="100" dirty="0">
                <a:solidFill>
                  <a:srgbClr val="2DD4BF"/>
                </a:solidFill>
              </a:rPr>
              <a:t>The FinOps question</a:t>
            </a:r>
            <a:endParaRPr lang="en-US" sz="1300" dirty="0"/>
          </a:p>
        </p:txBody>
      </p:sp>
      <p:sp>
        <p:nvSpPr>
          <p:cNvPr id="21" name="Text 19"/>
          <p:cNvSpPr/>
          <p:nvPr/>
        </p:nvSpPr>
        <p:spPr>
          <a:xfrm>
            <a:off x="3657600" y="4864608"/>
            <a:ext cx="6583680" cy="420624"/>
          </a:xfrm>
          <a:prstGeom prst="rect">
            <a:avLst/>
          </a:prstGeom>
          <a:noFill/>
          <a:ln/>
        </p:spPr>
        <p:txBody>
          <a:bodyPr wrap="square" lIns="0" tIns="0" rIns="0" bIns="0" rtlCol="0" anchor="ctr">
            <a:normAutofit/>
          </a:bodyPr>
          <a:lstStyle/>
          <a:p>
            <a:pPr marL="0" indent="0">
              <a:buNone/>
            </a:pPr>
            <a:r>
              <a:rPr lang="en-US" sz="2000" b="1" dirty="0">
                <a:solidFill>
                  <a:srgbClr val="FFFFFF"/>
                </a:solidFill>
              </a:rPr>
              <a:t>How do we agree on guardrails without learning through a surprise invoice—or a blocked developer?</a:t>
            </a:r>
            <a:endParaRPr lang="en-US" sz="2000" dirty="0"/>
          </a:p>
        </p:txBody>
      </p:sp>
      <p:sp>
        <p:nvSpPr>
          <p:cNvPr id="22" name="Text 20"/>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64748B"/>
                </a:solidFill>
                <a:latin typeface="Aptos" pitchFamily="34" charset="0"/>
                <a:ea typeface="Aptos" pitchFamily="34" charset="-122"/>
                <a:cs typeface="Aptos" pitchFamily="34" charset="-120"/>
              </a:rPr>
              <a:t>GITHUB </a:t>
            </a:r>
            <a:r>
              <a:rPr lang="en-US" sz="900" b="1" kern="0" spc="140" dirty="0">
                <a:solidFill>
                  <a:srgbClr val="64748B"/>
                </a:solidFill>
                <a:latin typeface="Aptos" pitchFamily="34" charset="0"/>
                <a:ea typeface="Aptos" pitchFamily="34" charset="-122"/>
                <a:cs typeface="Aptos" pitchFamily="34" charset="-120"/>
              </a:rPr>
              <a:t>COPILOT </a:t>
            </a:r>
            <a:r>
              <a:rPr lang="en-US" sz="900" b="1" kern="0" spc="140">
                <a:solidFill>
                  <a:srgbClr val="64748B"/>
                </a:solidFill>
                <a:latin typeface="Aptos" pitchFamily="34" charset="0"/>
                <a:ea typeface="Aptos" pitchFamily="34" charset="-122"/>
                <a:cs typeface="Aptos" pitchFamily="34" charset="-120"/>
              </a:rPr>
              <a:t>COST COMPASS</a:t>
            </a:r>
            <a:r>
              <a:rPr lang="en-US" sz="900" b="1" kern="0" spc="140" dirty="0">
                <a:solidFill>
                  <a:srgbClr val="64748B"/>
                </a:solidFill>
                <a:latin typeface="Aptos" pitchFamily="34" charset="0"/>
                <a:ea typeface="Aptos" pitchFamily="34" charset="-122"/>
                <a:cs typeface="Aptos" pitchFamily="34" charset="-120"/>
              </a:rPr>
              <a:t>  ·  0:35–1:20</a:t>
            </a:r>
            <a:endParaRPr lang="en-US" sz="900" dirty="0"/>
          </a:p>
        </p:txBody>
      </p:sp>
      <p:sp>
        <p:nvSpPr>
          <p:cNvPr id="23" name="Text 21"/>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0F766E"/>
                </a:solidFill>
                <a:latin typeface="Aptos" pitchFamily="34" charset="0"/>
                <a:ea typeface="Aptos" pitchFamily="34" charset="-122"/>
                <a:cs typeface="Apto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94360" y="438912"/>
            <a:ext cx="10881360" cy="566928"/>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Describe the situation—not every row.</a:t>
            </a:r>
            <a:endParaRPr lang="en-US" sz="3100" dirty="0"/>
          </a:p>
        </p:txBody>
      </p:sp>
      <p:sp>
        <p:nvSpPr>
          <p:cNvPr id="3" name="Text 1"/>
          <p:cNvSpPr/>
          <p:nvPr/>
        </p:nvSpPr>
        <p:spPr>
          <a:xfrm>
            <a:off x="612648" y="1060704"/>
            <a:ext cx="10515600" cy="347472"/>
          </a:xfrm>
          <a:prstGeom prst="rect">
            <a:avLst/>
          </a:prstGeom>
          <a:noFill/>
          <a:ln/>
        </p:spPr>
        <p:txBody>
          <a:bodyPr wrap="square" lIns="0" tIns="0" rIns="0" bIns="0" rtlCol="0" anchor="ctr">
            <a:normAutofit/>
          </a:bodyPr>
          <a:lstStyle/>
          <a:p>
            <a:pPr marL="0" indent="0">
              <a:buNone/>
            </a:pPr>
            <a:r>
              <a:rPr lang="en-US" sz="1500" dirty="0">
                <a:solidFill>
                  <a:srgbClr val="CBD5E1"/>
                </a:solidFill>
                <a:latin typeface="Aptos" pitchFamily="34" charset="0"/>
                <a:ea typeface="Aptos" pitchFamily="34" charset="-122"/>
                <a:cs typeface="Aptos" pitchFamily="34" charset="-120"/>
              </a:rPr>
              <a:t>Repository agents turn intent into deterministic, reviewable JSON.</a:t>
            </a:r>
            <a:endParaRPr lang="en-US" sz="1500" dirty="0"/>
          </a:p>
        </p:txBody>
      </p:sp>
      <p:sp>
        <p:nvSpPr>
          <p:cNvPr id="4" name="Shape 2"/>
          <p:cNvSpPr/>
          <p:nvPr/>
        </p:nvSpPr>
        <p:spPr>
          <a:xfrm>
            <a:off x="658368" y="1691640"/>
            <a:ext cx="5230368" cy="3520440"/>
          </a:xfrm>
          <a:prstGeom prst="roundRect">
            <a:avLst>
              <a:gd name="adj" fmla="val 2078"/>
            </a:avLst>
          </a:prstGeom>
          <a:solidFill>
            <a:srgbClr val="172033"/>
          </a:solidFill>
          <a:ln w="17780">
            <a:solidFill>
              <a:srgbClr val="0F766E">
                <a:alpha val="75000"/>
              </a:srgbClr>
            </a:solidFill>
            <a:prstDash val="solid"/>
          </a:ln>
        </p:spPr>
        <p:txBody>
          <a:bodyPr/>
          <a:lstStyle/>
          <a:p>
            <a:endParaRPr lang="en-BE"/>
          </a:p>
        </p:txBody>
      </p:sp>
      <p:sp>
        <p:nvSpPr>
          <p:cNvPr id="5" name="Shape 3"/>
          <p:cNvSpPr/>
          <p:nvPr/>
        </p:nvSpPr>
        <p:spPr>
          <a:xfrm>
            <a:off x="950976" y="1993392"/>
            <a:ext cx="1115568" cy="329184"/>
          </a:xfrm>
          <a:prstGeom prst="roundRect">
            <a:avLst>
              <a:gd name="adj" fmla="val 22222"/>
            </a:avLst>
          </a:prstGeom>
          <a:solidFill>
            <a:srgbClr val="0F766E"/>
          </a:solidFill>
          <a:ln w="12700">
            <a:solidFill>
              <a:srgbClr val="0F766E"/>
            </a:solidFill>
            <a:prstDash val="solid"/>
          </a:ln>
        </p:spPr>
        <p:txBody>
          <a:bodyPr/>
          <a:lstStyle/>
          <a:p>
            <a:endParaRPr lang="en-BE"/>
          </a:p>
        </p:txBody>
      </p:sp>
      <p:sp>
        <p:nvSpPr>
          <p:cNvPr id="6" name="Text 4"/>
          <p:cNvSpPr/>
          <p:nvPr/>
        </p:nvSpPr>
        <p:spPr>
          <a:xfrm>
            <a:off x="1024128" y="2061972"/>
            <a:ext cx="969264" cy="146304"/>
          </a:xfrm>
          <a:prstGeom prst="rect">
            <a:avLst/>
          </a:prstGeom>
          <a:noFill/>
          <a:ln/>
        </p:spPr>
        <p:txBody>
          <a:bodyPr wrap="square" lIns="0" tIns="0" rIns="0" bIns="0" rtlCol="0" anchor="ctr"/>
          <a:lstStyle/>
          <a:p>
            <a:pPr marL="0" indent="0" algn="ctr">
              <a:buNone/>
            </a:pPr>
            <a:r>
              <a:rPr lang="en-US" sz="1000" b="1" kern="0" spc="50" dirty="0">
                <a:solidFill>
                  <a:srgbClr val="FFFFFF"/>
                </a:solidFill>
              </a:rPr>
              <a:t>ENVIRONMENT</a:t>
            </a:r>
            <a:endParaRPr lang="en-US" sz="1000" dirty="0"/>
          </a:p>
        </p:txBody>
      </p:sp>
      <p:sp>
        <p:nvSpPr>
          <p:cNvPr id="7" name="Text 5"/>
          <p:cNvSpPr/>
          <p:nvPr/>
        </p:nvSpPr>
        <p:spPr>
          <a:xfrm>
            <a:off x="950976" y="2514600"/>
            <a:ext cx="4297680" cy="384048"/>
          </a:xfrm>
          <a:prstGeom prst="rect">
            <a:avLst/>
          </a:prstGeom>
          <a:noFill/>
          <a:ln/>
        </p:spPr>
        <p:txBody>
          <a:bodyPr wrap="square" lIns="0" tIns="0" rIns="0" bIns="0" rtlCol="0" anchor="ctr"/>
          <a:lstStyle/>
          <a:p>
            <a:pPr marL="0" indent="0">
              <a:buNone/>
            </a:pPr>
            <a:r>
              <a:rPr lang="en-US" sz="2500" b="1" dirty="0">
                <a:solidFill>
                  <a:srgbClr val="FFFFFF"/>
                </a:solidFill>
              </a:rPr>
              <a:t>Default Set Generator</a:t>
            </a:r>
            <a:endParaRPr lang="en-US" sz="2500" dirty="0"/>
          </a:p>
        </p:txBody>
      </p:sp>
      <p:sp>
        <p:nvSpPr>
          <p:cNvPr id="8" name="Text 6"/>
          <p:cNvSpPr/>
          <p:nvPr/>
        </p:nvSpPr>
        <p:spPr>
          <a:xfrm>
            <a:off x="950976" y="3154680"/>
            <a:ext cx="4572000" cy="914400"/>
          </a:xfrm>
          <a:prstGeom prst="rect">
            <a:avLst/>
          </a:prstGeom>
          <a:noFill/>
          <a:ln/>
        </p:spPr>
        <p:txBody>
          <a:bodyPr wrap="square" lIns="0" tIns="0" rIns="0" bIns="0" rtlCol="0" anchor="ctr">
            <a:normAutofit/>
          </a:bodyPr>
          <a:lstStyle/>
          <a:p>
            <a:pPr marL="0" indent="0">
              <a:buNone/>
            </a:pPr>
            <a:r>
              <a:rPr lang="en-US" sz="1400" dirty="0">
                <a:solidFill>
                  <a:srgbClr val="CBD5E1"/>
                </a:solidFill>
                <a:latin typeface="Consolas" pitchFamily="34" charset="0"/>
                <a:ea typeface="Consolas" pitchFamily="34" charset="-122"/>
                <a:cs typeface="Consolas" pitchFamily="34" charset="-120"/>
              </a:rPr>
              <a:t>“Create a compact synthetic enterprise with Alice, Bob, stable IDs, AI-credit products, budgets, and no live usage history.”</a:t>
            </a:r>
            <a:endParaRPr lang="en-US" sz="1400" dirty="0"/>
          </a:p>
        </p:txBody>
      </p:sp>
      <p:sp>
        <p:nvSpPr>
          <p:cNvPr id="9" name="Shape 7"/>
          <p:cNvSpPr/>
          <p:nvPr/>
        </p:nvSpPr>
        <p:spPr>
          <a:xfrm>
            <a:off x="950976" y="4370832"/>
            <a:ext cx="4572000" cy="475488"/>
          </a:xfrm>
          <a:prstGeom prst="roundRect">
            <a:avLst>
              <a:gd name="adj" fmla="val 7692"/>
            </a:avLst>
          </a:prstGeom>
          <a:solidFill>
            <a:srgbClr val="0B1220"/>
          </a:solidFill>
          <a:ln w="12700">
            <a:solidFill>
              <a:srgbClr val="334155"/>
            </a:solidFill>
            <a:prstDash val="solid"/>
          </a:ln>
        </p:spPr>
        <p:txBody>
          <a:bodyPr/>
          <a:lstStyle/>
          <a:p>
            <a:endParaRPr lang="en-BE"/>
          </a:p>
        </p:txBody>
      </p:sp>
      <p:sp>
        <p:nvSpPr>
          <p:cNvPr id="10" name="Text 8"/>
          <p:cNvSpPr/>
          <p:nvPr/>
        </p:nvSpPr>
        <p:spPr>
          <a:xfrm>
            <a:off x="1097280" y="4526280"/>
            <a:ext cx="4251960" cy="155448"/>
          </a:xfrm>
          <a:prstGeom prst="rect">
            <a:avLst/>
          </a:prstGeom>
          <a:noFill/>
          <a:ln/>
        </p:spPr>
        <p:txBody>
          <a:bodyPr wrap="square" lIns="0" tIns="0" rIns="0" bIns="0" rtlCol="0" anchor="ctr"/>
          <a:lstStyle/>
          <a:p>
            <a:pPr marL="0" indent="0">
              <a:buNone/>
            </a:pPr>
            <a:r>
              <a:rPr lang="en-US" sz="1200" b="1" dirty="0">
                <a:solidFill>
                  <a:srgbClr val="0F766E"/>
                </a:solidFill>
                <a:latin typeface="Consolas" pitchFamily="34" charset="0"/>
                <a:ea typeface="Consolas" pitchFamily="34" charset="-122"/>
                <a:cs typeface="Consolas" pitchFamily="34" charset="-120"/>
              </a:rPr>
              <a:t>→  synthetic-compact.json</a:t>
            </a:r>
            <a:endParaRPr lang="en-US" sz="1200" dirty="0"/>
          </a:p>
        </p:txBody>
      </p:sp>
      <p:sp>
        <p:nvSpPr>
          <p:cNvPr id="11" name="Shape 9"/>
          <p:cNvSpPr/>
          <p:nvPr/>
        </p:nvSpPr>
        <p:spPr>
          <a:xfrm>
            <a:off x="6291072" y="1691640"/>
            <a:ext cx="5230368" cy="3520440"/>
          </a:xfrm>
          <a:prstGeom prst="roundRect">
            <a:avLst>
              <a:gd name="adj" fmla="val 2078"/>
            </a:avLst>
          </a:prstGeom>
          <a:solidFill>
            <a:srgbClr val="172033"/>
          </a:solidFill>
          <a:ln w="17780">
            <a:solidFill>
              <a:srgbClr val="6D28D9">
                <a:alpha val="75000"/>
              </a:srgbClr>
            </a:solidFill>
            <a:prstDash val="solid"/>
          </a:ln>
        </p:spPr>
        <p:txBody>
          <a:bodyPr/>
          <a:lstStyle/>
          <a:p>
            <a:endParaRPr lang="en-BE"/>
          </a:p>
        </p:txBody>
      </p:sp>
      <p:sp>
        <p:nvSpPr>
          <p:cNvPr id="12" name="Shape 10"/>
          <p:cNvSpPr/>
          <p:nvPr/>
        </p:nvSpPr>
        <p:spPr>
          <a:xfrm>
            <a:off x="6583680" y="1993392"/>
            <a:ext cx="1115568" cy="329184"/>
          </a:xfrm>
          <a:prstGeom prst="roundRect">
            <a:avLst>
              <a:gd name="adj" fmla="val 22222"/>
            </a:avLst>
          </a:prstGeom>
          <a:solidFill>
            <a:srgbClr val="6D28D9"/>
          </a:solidFill>
          <a:ln w="12700">
            <a:solidFill>
              <a:srgbClr val="6D28D9"/>
            </a:solidFill>
            <a:prstDash val="solid"/>
          </a:ln>
        </p:spPr>
        <p:txBody>
          <a:bodyPr/>
          <a:lstStyle/>
          <a:p>
            <a:endParaRPr lang="en-BE"/>
          </a:p>
        </p:txBody>
      </p:sp>
      <p:sp>
        <p:nvSpPr>
          <p:cNvPr id="13" name="Text 11"/>
          <p:cNvSpPr/>
          <p:nvPr/>
        </p:nvSpPr>
        <p:spPr>
          <a:xfrm>
            <a:off x="6656832" y="2061972"/>
            <a:ext cx="969264" cy="146304"/>
          </a:xfrm>
          <a:prstGeom prst="rect">
            <a:avLst/>
          </a:prstGeom>
          <a:noFill/>
          <a:ln/>
        </p:spPr>
        <p:txBody>
          <a:bodyPr wrap="square" lIns="0" tIns="0" rIns="0" bIns="0" rtlCol="0" anchor="ctr"/>
          <a:lstStyle/>
          <a:p>
            <a:pPr marL="0" indent="0" algn="ctr">
              <a:buNone/>
            </a:pPr>
            <a:r>
              <a:rPr lang="en-US" sz="1000" b="1" kern="0" spc="50" dirty="0">
                <a:solidFill>
                  <a:srgbClr val="FFFFFF"/>
                </a:solidFill>
              </a:rPr>
              <a:t>LESSON</a:t>
            </a:r>
            <a:endParaRPr lang="en-US" sz="1000" dirty="0"/>
          </a:p>
        </p:txBody>
      </p:sp>
      <p:sp>
        <p:nvSpPr>
          <p:cNvPr id="14" name="Text 12"/>
          <p:cNvSpPr/>
          <p:nvPr/>
        </p:nvSpPr>
        <p:spPr>
          <a:xfrm>
            <a:off x="6583680" y="2514600"/>
            <a:ext cx="4297680" cy="384048"/>
          </a:xfrm>
          <a:prstGeom prst="rect">
            <a:avLst/>
          </a:prstGeom>
          <a:noFill/>
          <a:ln/>
        </p:spPr>
        <p:txBody>
          <a:bodyPr wrap="square" lIns="0" tIns="0" rIns="0" bIns="0" rtlCol="0" anchor="ctr"/>
          <a:lstStyle/>
          <a:p>
            <a:pPr marL="0" indent="0">
              <a:buNone/>
            </a:pPr>
            <a:r>
              <a:rPr lang="en-US" sz="2500" b="1" dirty="0">
                <a:solidFill>
                  <a:srgbClr val="FFFFFF"/>
                </a:solidFill>
              </a:rPr>
              <a:t>Scenario Generator</a:t>
            </a:r>
            <a:endParaRPr lang="en-US" sz="2500" dirty="0"/>
          </a:p>
        </p:txBody>
      </p:sp>
      <p:sp>
        <p:nvSpPr>
          <p:cNvPr id="15" name="Text 13"/>
          <p:cNvSpPr/>
          <p:nvPr/>
        </p:nvSpPr>
        <p:spPr>
          <a:xfrm>
            <a:off x="6583680" y="3154680"/>
            <a:ext cx="4572000" cy="914400"/>
          </a:xfrm>
          <a:prstGeom prst="rect">
            <a:avLst/>
          </a:prstGeom>
          <a:noFill/>
          <a:ln/>
        </p:spPr>
        <p:txBody>
          <a:bodyPr wrap="square" lIns="0" tIns="0" rIns="0" bIns="0" rtlCol="0" anchor="ctr">
            <a:normAutofit/>
          </a:bodyPr>
          <a:lstStyle/>
          <a:p>
            <a:pPr marL="0" indent="0">
              <a:buNone/>
            </a:pPr>
            <a:r>
              <a:rPr lang="en-US" sz="1400" dirty="0">
                <a:solidFill>
                  <a:srgbClr val="CBD5E1"/>
                </a:solidFill>
                <a:latin typeface="Consolas" pitchFamily="34" charset="0"/>
                <a:ea typeface="Consolas" pitchFamily="34" charset="-122"/>
                <a:cs typeface="Consolas" pitchFamily="34" charset="-120"/>
              </a:rPr>
              <a:t>“Show a cost-center pool reaching its cap, then compare paid overage with a user hard stop.”</a:t>
            </a:r>
            <a:endParaRPr lang="en-US" sz="1400" dirty="0"/>
          </a:p>
        </p:txBody>
      </p:sp>
      <p:sp>
        <p:nvSpPr>
          <p:cNvPr id="16" name="Shape 14"/>
          <p:cNvSpPr/>
          <p:nvPr/>
        </p:nvSpPr>
        <p:spPr>
          <a:xfrm>
            <a:off x="6583680" y="4370832"/>
            <a:ext cx="4572000" cy="475488"/>
          </a:xfrm>
          <a:prstGeom prst="roundRect">
            <a:avLst>
              <a:gd name="adj" fmla="val 7692"/>
            </a:avLst>
          </a:prstGeom>
          <a:solidFill>
            <a:srgbClr val="0B1220"/>
          </a:solidFill>
          <a:ln w="12700">
            <a:solidFill>
              <a:srgbClr val="334155"/>
            </a:solidFill>
            <a:prstDash val="solid"/>
          </a:ln>
        </p:spPr>
        <p:txBody>
          <a:bodyPr/>
          <a:lstStyle/>
          <a:p>
            <a:endParaRPr lang="en-BE"/>
          </a:p>
        </p:txBody>
      </p:sp>
      <p:sp>
        <p:nvSpPr>
          <p:cNvPr id="17" name="Text 15"/>
          <p:cNvSpPr/>
          <p:nvPr/>
        </p:nvSpPr>
        <p:spPr>
          <a:xfrm>
            <a:off x="6729984" y="4526280"/>
            <a:ext cx="4251960" cy="155448"/>
          </a:xfrm>
          <a:prstGeom prst="rect">
            <a:avLst/>
          </a:prstGeom>
          <a:noFill/>
          <a:ln/>
        </p:spPr>
        <p:txBody>
          <a:bodyPr wrap="square" lIns="0" tIns="0" rIns="0" bIns="0" rtlCol="0" anchor="ctr"/>
          <a:lstStyle/>
          <a:p>
            <a:pPr marL="0" indent="0">
              <a:buNone/>
            </a:pPr>
            <a:r>
              <a:rPr lang="en-US" sz="1200" b="1" dirty="0">
                <a:solidFill>
                  <a:srgbClr val="6D28D9"/>
                </a:solidFill>
                <a:latin typeface="Consolas" pitchFamily="34" charset="0"/>
                <a:ea typeface="Consolas" pitchFamily="34" charset="-122"/>
                <a:cs typeface="Consolas" pitchFamily="34" charset="-120"/>
              </a:rPr>
              <a:t>→  cost-center-pool-to-overage.json</a:t>
            </a:r>
            <a:endParaRPr lang="en-US" sz="1200" dirty="0"/>
          </a:p>
        </p:txBody>
      </p:sp>
      <p:sp>
        <p:nvSpPr>
          <p:cNvPr id="18" name="Text 16"/>
          <p:cNvSpPr/>
          <p:nvPr/>
        </p:nvSpPr>
        <p:spPr>
          <a:xfrm>
            <a:off x="1051560" y="5650992"/>
            <a:ext cx="10104120" cy="365760"/>
          </a:xfrm>
          <a:prstGeom prst="rect">
            <a:avLst/>
          </a:prstGeom>
          <a:noFill/>
          <a:ln/>
        </p:spPr>
        <p:txBody>
          <a:bodyPr wrap="square" lIns="0" tIns="0" rIns="0" bIns="0" rtlCol="0" anchor="ctr"/>
          <a:lstStyle/>
          <a:p>
            <a:pPr marL="0" indent="0" algn="ctr">
              <a:buNone/>
            </a:pPr>
            <a:r>
              <a:rPr lang="en-US" sz="1500" b="1" kern="0" spc="40" dirty="0">
                <a:solidFill>
                  <a:srgbClr val="CBD5E1"/>
                </a:solidFill>
              </a:rPr>
              <a:t>Stable IDs  |  explicit assumptions  |  falsifiable outcomes  |  deterministic replay</a:t>
            </a:r>
            <a:endParaRPr lang="en-US" sz="1500" dirty="0"/>
          </a:p>
        </p:txBody>
      </p:sp>
      <p:sp>
        <p:nvSpPr>
          <p:cNvPr id="19" name="Text 17"/>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94A3B8"/>
                </a:solidFill>
                <a:latin typeface="Aptos" pitchFamily="34" charset="0"/>
                <a:ea typeface="Aptos" pitchFamily="34" charset="-122"/>
                <a:cs typeface="Aptos" pitchFamily="34" charset="-120"/>
              </a:rPr>
              <a:t>GITHUB </a:t>
            </a:r>
            <a:r>
              <a:rPr lang="en-US" sz="900" b="1" kern="0" spc="140" dirty="0">
                <a:solidFill>
                  <a:srgbClr val="94A3B8"/>
                </a:solidFill>
                <a:latin typeface="Aptos" pitchFamily="34" charset="0"/>
                <a:ea typeface="Aptos" pitchFamily="34" charset="-122"/>
                <a:cs typeface="Aptos" pitchFamily="34" charset="-120"/>
              </a:rPr>
              <a:t>COPILOT </a:t>
            </a:r>
            <a:r>
              <a:rPr lang="en-US" sz="900" b="1" kern="0" spc="140">
                <a:solidFill>
                  <a:srgbClr val="94A3B8"/>
                </a:solidFill>
                <a:latin typeface="Aptos" pitchFamily="34" charset="0"/>
                <a:ea typeface="Aptos" pitchFamily="34" charset="-122"/>
                <a:cs typeface="Aptos" pitchFamily="34" charset="-120"/>
              </a:rPr>
              <a:t>COST COMPASS</a:t>
            </a:r>
            <a:r>
              <a:rPr lang="en-US" sz="900" b="1" kern="0" spc="140" dirty="0">
                <a:solidFill>
                  <a:srgbClr val="94A3B8"/>
                </a:solidFill>
                <a:latin typeface="Aptos" pitchFamily="34" charset="0"/>
                <a:ea typeface="Aptos" pitchFamily="34" charset="-122"/>
                <a:cs typeface="Aptos" pitchFamily="34" charset="-120"/>
              </a:rPr>
              <a:t>  ·  1:20–2:05</a:t>
            </a:r>
            <a:endParaRPr lang="en-US" sz="900" dirty="0"/>
          </a:p>
        </p:txBody>
      </p:sp>
      <p:sp>
        <p:nvSpPr>
          <p:cNvPr id="20" name="Text 18"/>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2DD4BF"/>
                </a:solidFill>
                <a:latin typeface="Aptos" pitchFamily="34" charset="0"/>
                <a:ea typeface="Aptos" pitchFamily="34" charset="-122"/>
                <a:cs typeface="Apto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94360" y="438912"/>
            <a:ext cx="10881360" cy="566928"/>
          </a:xfrm>
          <a:prstGeom prst="rect">
            <a:avLst/>
          </a:prstGeom>
          <a:noFill/>
          <a:ln/>
        </p:spPr>
        <p:txBody>
          <a:bodyPr wrap="square" lIns="0" tIns="0" rIns="0" bIns="0" rtlCol="0" anchor="ctr">
            <a:normAutofit/>
          </a:bodyP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Open a synthetic sandbox—not a production tenant.</a:t>
            </a:r>
            <a:endParaRPr lang="en-US" sz="3100" dirty="0"/>
          </a:p>
        </p:txBody>
      </p:sp>
      <p:sp>
        <p:nvSpPr>
          <p:cNvPr id="3" name="Text 1"/>
          <p:cNvSpPr/>
          <p:nvPr/>
        </p:nvSpPr>
        <p:spPr>
          <a:xfrm>
            <a:off x="612648" y="1060704"/>
            <a:ext cx="10515600" cy="347472"/>
          </a:xfrm>
          <a:prstGeom prst="rect">
            <a:avLst/>
          </a:prstGeom>
          <a:noFill/>
          <a:ln/>
        </p:spPr>
        <p:txBody>
          <a:bodyPr wrap="square" lIns="0" tIns="0" rIns="0" bIns="0" rtlCol="0" anchor="ctr">
            <a:normAutofit/>
          </a:bodyPr>
          <a:lstStyle/>
          <a:p>
            <a:pPr marL="0" indent="0">
              <a:buNone/>
            </a:pPr>
            <a:r>
              <a:rPr lang="en-US" sz="1500" dirty="0">
                <a:solidFill>
                  <a:srgbClr val="64748B"/>
                </a:solidFill>
                <a:latin typeface="Aptos" pitchFamily="34" charset="0"/>
                <a:ea typeface="Aptos" pitchFamily="34" charset="-122"/>
                <a:cs typeface="Aptos" pitchFamily="34" charset="-120"/>
              </a:rPr>
              <a:t>The environment is selectable, browser-local, and safe to replay.</a:t>
            </a:r>
            <a:endParaRPr lang="en-US" sz="1500" dirty="0"/>
          </a:p>
        </p:txBody>
      </p:sp>
      <p:sp>
        <p:nvSpPr>
          <p:cNvPr id="4" name="Shape 2"/>
          <p:cNvSpPr/>
          <p:nvPr/>
        </p:nvSpPr>
        <p:spPr>
          <a:xfrm>
            <a:off x="585216" y="1591056"/>
            <a:ext cx="7598664" cy="2295144"/>
          </a:xfrm>
          <a:prstGeom prst="roundRect">
            <a:avLst>
              <a:gd name="adj" fmla="val 2390"/>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pic>
        <p:nvPicPr>
          <p:cNvPr id="5" name="Image 0" descr="C:\Users\squintelier\github-app\copilot-worktrees\gh-setup\sujithq-expert-pancake\demo\assets\dashboard-summary.png"/>
          <p:cNvPicPr>
            <a:picLocks noChangeAspect="1"/>
          </p:cNvPicPr>
          <p:nvPr/>
        </p:nvPicPr>
        <p:blipFill>
          <a:blip r:embed="rId3"/>
          <a:stretch>
            <a:fillRect/>
          </a:stretch>
        </p:blipFill>
        <p:spPr>
          <a:xfrm>
            <a:off x="658368" y="1664208"/>
            <a:ext cx="7452360" cy="2148840"/>
          </a:xfrm>
          <a:prstGeom prst="rect">
            <a:avLst/>
          </a:prstGeom>
        </p:spPr>
      </p:pic>
      <p:sp>
        <p:nvSpPr>
          <p:cNvPr id="6" name="Shape 3"/>
          <p:cNvSpPr/>
          <p:nvPr/>
        </p:nvSpPr>
        <p:spPr>
          <a:xfrm>
            <a:off x="585216" y="4151376"/>
            <a:ext cx="7598664" cy="676656"/>
          </a:xfrm>
          <a:prstGeom prst="roundRect">
            <a:avLst>
              <a:gd name="adj" fmla="val 8108"/>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pic>
        <p:nvPicPr>
          <p:cNvPr id="7" name="Image 1" descr="C:\Users\squintelier\github-app\copilot-worktrees\gh-setup\sujithq-expert-pancake\demo\assets\dataset-selector.png"/>
          <p:cNvPicPr>
            <a:picLocks noChangeAspect="1"/>
          </p:cNvPicPr>
          <p:nvPr/>
        </p:nvPicPr>
        <p:blipFill>
          <a:blip r:embed="rId4"/>
          <a:stretch>
            <a:fillRect/>
          </a:stretch>
        </p:blipFill>
        <p:spPr>
          <a:xfrm>
            <a:off x="658368" y="4227707"/>
            <a:ext cx="7452360" cy="523994"/>
          </a:xfrm>
          <a:prstGeom prst="rect">
            <a:avLst/>
          </a:prstGeom>
        </p:spPr>
      </p:pic>
      <p:sp>
        <p:nvSpPr>
          <p:cNvPr id="8" name="Text 4"/>
          <p:cNvSpPr/>
          <p:nvPr/>
        </p:nvSpPr>
        <p:spPr>
          <a:xfrm>
            <a:off x="841248" y="4992624"/>
            <a:ext cx="7086600" cy="274320"/>
          </a:xfrm>
          <a:prstGeom prst="rect">
            <a:avLst/>
          </a:prstGeom>
          <a:noFill/>
          <a:ln/>
        </p:spPr>
        <p:txBody>
          <a:bodyPr wrap="square" lIns="0" tIns="0" rIns="0" bIns="0" rtlCol="0" anchor="ctr"/>
          <a:lstStyle/>
          <a:p>
            <a:pPr marL="0" indent="0" algn="ctr">
              <a:buNone/>
            </a:pPr>
            <a:r>
              <a:rPr lang="en-US" sz="1400" b="1" dirty="0">
                <a:solidFill>
                  <a:srgbClr val="334155"/>
                </a:solidFill>
              </a:rPr>
              <a:t>Two views from the same browser-local synthetic tenant</a:t>
            </a:r>
            <a:endParaRPr lang="en-US" sz="1400" dirty="0"/>
          </a:p>
        </p:txBody>
      </p:sp>
      <p:sp>
        <p:nvSpPr>
          <p:cNvPr id="9" name="Shape 5"/>
          <p:cNvSpPr/>
          <p:nvPr/>
        </p:nvSpPr>
        <p:spPr>
          <a:xfrm>
            <a:off x="8485632" y="1737360"/>
            <a:ext cx="3017520" cy="914400"/>
          </a:xfrm>
          <a:prstGeom prst="roundRect">
            <a:avLst>
              <a:gd name="adj" fmla="val 6000"/>
            </a:avLst>
          </a:prstGeom>
          <a:solidFill>
            <a:srgbClr val="FFFFFF"/>
          </a:solidFill>
          <a:ln w="12700">
            <a:solidFill>
              <a:srgbClr val="CBD5E1"/>
            </a:solidFill>
            <a:prstDash val="solid"/>
          </a:ln>
        </p:spPr>
        <p:txBody>
          <a:bodyPr/>
          <a:lstStyle/>
          <a:p>
            <a:endParaRPr lang="en-BE"/>
          </a:p>
        </p:txBody>
      </p:sp>
      <p:sp>
        <p:nvSpPr>
          <p:cNvPr id="10" name="Shape 6"/>
          <p:cNvSpPr/>
          <p:nvPr/>
        </p:nvSpPr>
        <p:spPr>
          <a:xfrm>
            <a:off x="8705088" y="1965960"/>
            <a:ext cx="438912" cy="438912"/>
          </a:xfrm>
          <a:prstGeom prst="ellipse">
            <a:avLst/>
          </a:prstGeom>
          <a:solidFill>
            <a:srgbClr val="CCFBF1"/>
          </a:solidFill>
          <a:ln w="12700">
            <a:solidFill>
              <a:srgbClr val="CCFBF1"/>
            </a:solidFill>
            <a:prstDash val="solid"/>
          </a:ln>
        </p:spPr>
        <p:txBody>
          <a:bodyPr/>
          <a:lstStyle/>
          <a:p>
            <a:endParaRPr lang="en-BE"/>
          </a:p>
        </p:txBody>
      </p:sp>
      <p:sp>
        <p:nvSpPr>
          <p:cNvPr id="11" name="Text 7"/>
          <p:cNvSpPr/>
          <p:nvPr/>
        </p:nvSpPr>
        <p:spPr>
          <a:xfrm>
            <a:off x="8705088" y="2084832"/>
            <a:ext cx="438912" cy="128016"/>
          </a:xfrm>
          <a:prstGeom prst="rect">
            <a:avLst/>
          </a:prstGeom>
          <a:noFill/>
          <a:ln/>
        </p:spPr>
        <p:txBody>
          <a:bodyPr wrap="square" lIns="0" tIns="0" rIns="0" bIns="0" rtlCol="0" anchor="ctr"/>
          <a:lstStyle/>
          <a:p>
            <a:pPr marL="0" indent="0" algn="ctr">
              <a:buNone/>
            </a:pPr>
            <a:r>
              <a:rPr lang="en-US" sz="1200" b="1" dirty="0">
                <a:solidFill>
                  <a:srgbClr val="0F766E"/>
                </a:solidFill>
              </a:rPr>
              <a:t>✓</a:t>
            </a:r>
            <a:endParaRPr lang="en-US" sz="1200" dirty="0"/>
          </a:p>
        </p:txBody>
      </p:sp>
      <p:sp>
        <p:nvSpPr>
          <p:cNvPr id="12" name="Text 8"/>
          <p:cNvSpPr/>
          <p:nvPr/>
        </p:nvSpPr>
        <p:spPr>
          <a:xfrm>
            <a:off x="9308592" y="1911096"/>
            <a:ext cx="1965960" cy="228600"/>
          </a:xfrm>
          <a:prstGeom prst="rect">
            <a:avLst/>
          </a:prstGeom>
          <a:noFill/>
          <a:ln/>
        </p:spPr>
        <p:txBody>
          <a:bodyPr wrap="square" lIns="0" tIns="0" rIns="0" bIns="0" rtlCol="0" anchor="ctr"/>
          <a:lstStyle/>
          <a:p>
            <a:pPr marL="0" indent="0">
              <a:buNone/>
            </a:pPr>
            <a:r>
              <a:rPr lang="en-US" sz="1600" b="1" dirty="0">
                <a:solidFill>
                  <a:srgbClr val="111827"/>
                </a:solidFill>
              </a:rPr>
              <a:t>No GitHub connection</a:t>
            </a:r>
            <a:endParaRPr lang="en-US" sz="1600" dirty="0"/>
          </a:p>
        </p:txBody>
      </p:sp>
      <p:sp>
        <p:nvSpPr>
          <p:cNvPr id="13" name="Text 9"/>
          <p:cNvSpPr/>
          <p:nvPr/>
        </p:nvSpPr>
        <p:spPr>
          <a:xfrm>
            <a:off x="9308592" y="2212848"/>
            <a:ext cx="1874520" cy="256032"/>
          </a:xfrm>
          <a:prstGeom prst="rect">
            <a:avLst/>
          </a:prstGeom>
          <a:noFill/>
          <a:ln/>
        </p:spPr>
        <p:txBody>
          <a:bodyPr wrap="square" lIns="0" tIns="0" rIns="0" bIns="0" rtlCol="0" anchor="ctr">
            <a:normAutofit/>
          </a:bodyPr>
          <a:lstStyle/>
          <a:p>
            <a:pPr marL="0" indent="0">
              <a:buNone/>
            </a:pPr>
            <a:r>
              <a:rPr lang="en-US" sz="1150" dirty="0">
                <a:solidFill>
                  <a:srgbClr val="64748B"/>
                </a:solidFill>
              </a:rPr>
              <a:t>All data stays in the browser.</a:t>
            </a:r>
            <a:endParaRPr lang="en-US" sz="1150" dirty="0"/>
          </a:p>
        </p:txBody>
      </p:sp>
      <p:sp>
        <p:nvSpPr>
          <p:cNvPr id="14" name="Shape 10"/>
          <p:cNvSpPr/>
          <p:nvPr/>
        </p:nvSpPr>
        <p:spPr>
          <a:xfrm>
            <a:off x="8485632" y="2880360"/>
            <a:ext cx="3017520" cy="914400"/>
          </a:xfrm>
          <a:prstGeom prst="roundRect">
            <a:avLst>
              <a:gd name="adj" fmla="val 6000"/>
            </a:avLst>
          </a:prstGeom>
          <a:solidFill>
            <a:srgbClr val="FFFFFF"/>
          </a:solidFill>
          <a:ln w="12700">
            <a:solidFill>
              <a:srgbClr val="CBD5E1"/>
            </a:solidFill>
            <a:prstDash val="solid"/>
          </a:ln>
        </p:spPr>
        <p:txBody>
          <a:bodyPr/>
          <a:lstStyle/>
          <a:p>
            <a:endParaRPr lang="en-BE"/>
          </a:p>
        </p:txBody>
      </p:sp>
      <p:sp>
        <p:nvSpPr>
          <p:cNvPr id="15" name="Shape 11"/>
          <p:cNvSpPr/>
          <p:nvPr/>
        </p:nvSpPr>
        <p:spPr>
          <a:xfrm>
            <a:off x="8705088" y="3108960"/>
            <a:ext cx="438912" cy="438912"/>
          </a:xfrm>
          <a:prstGeom prst="ellipse">
            <a:avLst/>
          </a:prstGeom>
          <a:solidFill>
            <a:srgbClr val="EDE9FE"/>
          </a:solidFill>
          <a:ln w="12700">
            <a:solidFill>
              <a:srgbClr val="EDE9FE"/>
            </a:solidFill>
            <a:prstDash val="solid"/>
          </a:ln>
        </p:spPr>
        <p:txBody>
          <a:bodyPr/>
          <a:lstStyle/>
          <a:p>
            <a:endParaRPr lang="en-BE"/>
          </a:p>
        </p:txBody>
      </p:sp>
      <p:sp>
        <p:nvSpPr>
          <p:cNvPr id="16" name="Text 12"/>
          <p:cNvSpPr/>
          <p:nvPr/>
        </p:nvSpPr>
        <p:spPr>
          <a:xfrm>
            <a:off x="8705088" y="3227832"/>
            <a:ext cx="438912" cy="128016"/>
          </a:xfrm>
          <a:prstGeom prst="rect">
            <a:avLst/>
          </a:prstGeom>
          <a:noFill/>
          <a:ln/>
        </p:spPr>
        <p:txBody>
          <a:bodyPr wrap="square" lIns="0" tIns="0" rIns="0" bIns="0" rtlCol="0" anchor="ctr"/>
          <a:lstStyle/>
          <a:p>
            <a:pPr marL="0" indent="0" algn="ctr">
              <a:buNone/>
            </a:pPr>
            <a:r>
              <a:rPr lang="en-US" sz="1200" b="1" dirty="0">
                <a:solidFill>
                  <a:srgbClr val="6D28D9"/>
                </a:solidFill>
              </a:rPr>
              <a:t>✓</a:t>
            </a:r>
            <a:endParaRPr lang="en-US" sz="1200" dirty="0"/>
          </a:p>
        </p:txBody>
      </p:sp>
      <p:sp>
        <p:nvSpPr>
          <p:cNvPr id="17" name="Text 13"/>
          <p:cNvSpPr/>
          <p:nvPr/>
        </p:nvSpPr>
        <p:spPr>
          <a:xfrm>
            <a:off x="9308592" y="3054096"/>
            <a:ext cx="1965960" cy="228600"/>
          </a:xfrm>
          <a:prstGeom prst="rect">
            <a:avLst/>
          </a:prstGeom>
          <a:noFill/>
          <a:ln/>
        </p:spPr>
        <p:txBody>
          <a:bodyPr wrap="square" lIns="0" tIns="0" rIns="0" bIns="0" rtlCol="0" anchor="ctr"/>
          <a:lstStyle/>
          <a:p>
            <a:pPr marL="0" indent="0">
              <a:buNone/>
            </a:pPr>
            <a:r>
              <a:rPr lang="en-US" sz="1600" b="1" dirty="0">
                <a:solidFill>
                  <a:srgbClr val="111827"/>
                </a:solidFill>
              </a:rPr>
              <a:t>Two teaching scales</a:t>
            </a:r>
            <a:endParaRPr lang="en-US" sz="1600" dirty="0"/>
          </a:p>
        </p:txBody>
      </p:sp>
      <p:sp>
        <p:nvSpPr>
          <p:cNvPr id="18" name="Text 14"/>
          <p:cNvSpPr/>
          <p:nvPr/>
        </p:nvSpPr>
        <p:spPr>
          <a:xfrm>
            <a:off x="9308592" y="3355848"/>
            <a:ext cx="1874520" cy="256032"/>
          </a:xfrm>
          <a:prstGeom prst="rect">
            <a:avLst/>
          </a:prstGeom>
          <a:noFill/>
          <a:ln/>
        </p:spPr>
        <p:txBody>
          <a:bodyPr wrap="square" lIns="0" tIns="0" rIns="0" bIns="0" rtlCol="0" anchor="ctr">
            <a:normAutofit/>
          </a:bodyPr>
          <a:lstStyle/>
          <a:p>
            <a:pPr marL="0" indent="0">
              <a:buNone/>
            </a:pPr>
            <a:r>
              <a:rPr lang="en-US" sz="1150" dirty="0">
                <a:solidFill>
                  <a:srgbClr val="64748B"/>
                </a:solidFill>
              </a:rPr>
              <a:t>Compact for focused lessons; enterprise for realistic topology.</a:t>
            </a:r>
            <a:endParaRPr lang="en-US" sz="1150" dirty="0"/>
          </a:p>
        </p:txBody>
      </p:sp>
      <p:sp>
        <p:nvSpPr>
          <p:cNvPr id="19" name="Shape 15"/>
          <p:cNvSpPr/>
          <p:nvPr/>
        </p:nvSpPr>
        <p:spPr>
          <a:xfrm>
            <a:off x="8485632" y="4233672"/>
            <a:ext cx="3017520" cy="914400"/>
          </a:xfrm>
          <a:prstGeom prst="roundRect">
            <a:avLst>
              <a:gd name="adj" fmla="val 6000"/>
            </a:avLst>
          </a:prstGeom>
          <a:solidFill>
            <a:srgbClr val="FFFFFF"/>
          </a:solidFill>
          <a:ln w="12700">
            <a:solidFill>
              <a:srgbClr val="CBD5E1"/>
            </a:solidFill>
            <a:prstDash val="solid"/>
          </a:ln>
        </p:spPr>
        <p:txBody>
          <a:bodyPr/>
          <a:lstStyle/>
          <a:p>
            <a:endParaRPr lang="en-BE"/>
          </a:p>
        </p:txBody>
      </p:sp>
      <p:sp>
        <p:nvSpPr>
          <p:cNvPr id="20" name="Shape 16"/>
          <p:cNvSpPr/>
          <p:nvPr/>
        </p:nvSpPr>
        <p:spPr>
          <a:xfrm>
            <a:off x="8705088" y="4462272"/>
            <a:ext cx="438912" cy="438912"/>
          </a:xfrm>
          <a:prstGeom prst="ellipse">
            <a:avLst/>
          </a:prstGeom>
          <a:solidFill>
            <a:srgbClr val="FEF3C7"/>
          </a:solidFill>
          <a:ln w="12700">
            <a:solidFill>
              <a:srgbClr val="FEF3C7"/>
            </a:solidFill>
            <a:prstDash val="solid"/>
          </a:ln>
        </p:spPr>
        <p:txBody>
          <a:bodyPr/>
          <a:lstStyle/>
          <a:p>
            <a:endParaRPr lang="en-BE"/>
          </a:p>
        </p:txBody>
      </p:sp>
      <p:sp>
        <p:nvSpPr>
          <p:cNvPr id="21" name="Text 17"/>
          <p:cNvSpPr/>
          <p:nvPr/>
        </p:nvSpPr>
        <p:spPr>
          <a:xfrm>
            <a:off x="8705088" y="4581144"/>
            <a:ext cx="438912" cy="128016"/>
          </a:xfrm>
          <a:prstGeom prst="rect">
            <a:avLst/>
          </a:prstGeom>
          <a:noFill/>
          <a:ln/>
        </p:spPr>
        <p:txBody>
          <a:bodyPr wrap="square" lIns="0" tIns="0" rIns="0" bIns="0" rtlCol="0" anchor="ctr"/>
          <a:lstStyle/>
          <a:p>
            <a:pPr marL="0" indent="0" algn="ctr">
              <a:buNone/>
            </a:pPr>
            <a:r>
              <a:rPr lang="en-US" sz="1200" b="1" dirty="0">
                <a:solidFill>
                  <a:srgbClr val="F59E0B"/>
                </a:solidFill>
              </a:rPr>
              <a:t>✓</a:t>
            </a:r>
            <a:endParaRPr lang="en-US" sz="1200" dirty="0"/>
          </a:p>
        </p:txBody>
      </p:sp>
      <p:sp>
        <p:nvSpPr>
          <p:cNvPr id="22" name="Text 18"/>
          <p:cNvSpPr/>
          <p:nvPr/>
        </p:nvSpPr>
        <p:spPr>
          <a:xfrm>
            <a:off x="9308592" y="4407408"/>
            <a:ext cx="1965960" cy="228600"/>
          </a:xfrm>
          <a:prstGeom prst="rect">
            <a:avLst/>
          </a:prstGeom>
          <a:noFill/>
          <a:ln/>
        </p:spPr>
        <p:txBody>
          <a:bodyPr wrap="square" lIns="0" tIns="0" rIns="0" bIns="0" rtlCol="0" anchor="ctr"/>
          <a:lstStyle/>
          <a:p>
            <a:pPr marL="0" indent="0">
              <a:buNone/>
            </a:pPr>
            <a:r>
              <a:rPr lang="en-US" sz="1600" b="1" dirty="0">
                <a:solidFill>
                  <a:srgbClr val="111827"/>
                </a:solidFill>
              </a:rPr>
              <a:t>One operating view</a:t>
            </a:r>
            <a:endParaRPr lang="en-US" sz="1600" dirty="0"/>
          </a:p>
        </p:txBody>
      </p:sp>
      <p:sp>
        <p:nvSpPr>
          <p:cNvPr id="23" name="Text 19"/>
          <p:cNvSpPr/>
          <p:nvPr/>
        </p:nvSpPr>
        <p:spPr>
          <a:xfrm>
            <a:off x="9308592" y="4709160"/>
            <a:ext cx="1874520" cy="256032"/>
          </a:xfrm>
          <a:prstGeom prst="rect">
            <a:avLst/>
          </a:prstGeom>
          <a:noFill/>
          <a:ln/>
        </p:spPr>
        <p:txBody>
          <a:bodyPr wrap="square" lIns="0" tIns="0" rIns="0" bIns="0" rtlCol="0" anchor="ctr">
            <a:normAutofit/>
          </a:bodyPr>
          <a:lstStyle/>
          <a:p>
            <a:pPr marL="0" indent="0">
              <a:buNone/>
            </a:pPr>
            <a:r>
              <a:rPr lang="en-US" sz="1150" dirty="0">
                <a:solidFill>
                  <a:srgbClr val="64748B"/>
                </a:solidFill>
              </a:rPr>
              <a:t>Pool, seats, overage, alerts, and blocks are visible together.</a:t>
            </a:r>
            <a:endParaRPr lang="en-US" sz="1150" dirty="0"/>
          </a:p>
        </p:txBody>
      </p:sp>
      <p:sp>
        <p:nvSpPr>
          <p:cNvPr id="24" name="Text 20"/>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64748B"/>
                </a:solidFill>
                <a:latin typeface="Aptos" pitchFamily="34" charset="0"/>
                <a:ea typeface="Aptos" pitchFamily="34" charset="-122"/>
                <a:cs typeface="Aptos" pitchFamily="34" charset="-120"/>
              </a:rPr>
              <a:t>GITHUB </a:t>
            </a:r>
            <a:r>
              <a:rPr lang="en-US" sz="900" b="1" kern="0" spc="140" dirty="0">
                <a:solidFill>
                  <a:srgbClr val="64748B"/>
                </a:solidFill>
                <a:latin typeface="Aptos" pitchFamily="34" charset="0"/>
                <a:ea typeface="Aptos" pitchFamily="34" charset="-122"/>
                <a:cs typeface="Aptos" pitchFamily="34" charset="-120"/>
              </a:rPr>
              <a:t>COPILOT </a:t>
            </a:r>
            <a:r>
              <a:rPr lang="en-US" sz="900" b="1" kern="0" spc="140">
                <a:solidFill>
                  <a:srgbClr val="64748B"/>
                </a:solidFill>
                <a:latin typeface="Aptos" pitchFamily="34" charset="0"/>
                <a:ea typeface="Aptos" pitchFamily="34" charset="-122"/>
                <a:cs typeface="Aptos" pitchFamily="34" charset="-120"/>
              </a:rPr>
              <a:t>COST COMPASS</a:t>
            </a:r>
            <a:r>
              <a:rPr lang="en-US" sz="900" b="1" kern="0" spc="140" dirty="0">
                <a:solidFill>
                  <a:srgbClr val="64748B"/>
                </a:solidFill>
                <a:latin typeface="Aptos" pitchFamily="34" charset="0"/>
                <a:ea typeface="Aptos" pitchFamily="34" charset="-122"/>
                <a:cs typeface="Aptos" pitchFamily="34" charset="-120"/>
              </a:rPr>
              <a:t>  ·  2:05–2:45</a:t>
            </a:r>
            <a:endParaRPr lang="en-US" sz="900" dirty="0"/>
          </a:p>
        </p:txBody>
      </p:sp>
      <p:sp>
        <p:nvSpPr>
          <p:cNvPr id="25" name="Text 21"/>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0F766E"/>
                </a:solidFill>
                <a:latin typeface="Aptos" pitchFamily="34" charset="0"/>
                <a:ea typeface="Aptos" pitchFamily="34" charset="-122"/>
                <a:cs typeface="Apto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94360" y="438912"/>
            <a:ext cx="10881360" cy="566928"/>
          </a:xfrm>
          <a:prstGeom prst="rect">
            <a:avLst/>
          </a:prstGeom>
          <a:noFill/>
          <a:ln/>
        </p:spPr>
        <p:txBody>
          <a:bodyPr wrap="square" lIns="0" tIns="0" rIns="0" bIns="0" rtlCol="0" anchor="ctr">
            <a:normAutofit/>
          </a:bodyP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Decision one: continue after included credits?</a:t>
            </a:r>
            <a:endParaRPr lang="en-US" sz="3100" dirty="0"/>
          </a:p>
        </p:txBody>
      </p:sp>
      <p:sp>
        <p:nvSpPr>
          <p:cNvPr id="3" name="Text 1"/>
          <p:cNvSpPr/>
          <p:nvPr/>
        </p:nvSpPr>
        <p:spPr>
          <a:xfrm>
            <a:off x="612648" y="1060704"/>
            <a:ext cx="10515600" cy="347472"/>
          </a:xfrm>
          <a:prstGeom prst="rect">
            <a:avLst/>
          </a:prstGeom>
          <a:noFill/>
          <a:ln/>
        </p:spPr>
        <p:txBody>
          <a:bodyPr wrap="square" lIns="0" tIns="0" rIns="0" bIns="0" rtlCol="0" anchor="ctr">
            <a:normAutofit/>
          </a:bodyPr>
          <a:lstStyle/>
          <a:p>
            <a:pPr marL="0" indent="0">
              <a:buNone/>
            </a:pPr>
            <a:r>
              <a:rPr lang="en-US" sz="1500" dirty="0">
                <a:solidFill>
                  <a:srgbClr val="64748B"/>
                </a:solidFill>
                <a:latin typeface="Aptos" pitchFamily="34" charset="0"/>
                <a:ea typeface="Aptos" pitchFamily="34" charset="-122"/>
                <a:cs typeface="Aptos" pitchFamily="34" charset="-120"/>
              </a:rPr>
              <a:t>A cost-center pool reaches its cap; the next event becomes paid overage.</a:t>
            </a:r>
            <a:endParaRPr lang="en-US" sz="1500" dirty="0"/>
          </a:p>
        </p:txBody>
      </p:sp>
      <p:sp>
        <p:nvSpPr>
          <p:cNvPr id="4" name="Shape 2"/>
          <p:cNvSpPr/>
          <p:nvPr/>
        </p:nvSpPr>
        <p:spPr>
          <a:xfrm>
            <a:off x="521208" y="1453896"/>
            <a:ext cx="6711696" cy="4251960"/>
          </a:xfrm>
          <a:prstGeom prst="roundRect">
            <a:avLst>
              <a:gd name="adj" fmla="val 1290"/>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pic>
        <p:nvPicPr>
          <p:cNvPr id="5" name="Image 0" descr="C:\Users\squintelier\github-app\copilot-worktrees\gh-setup\sujithq-expert-pancake\demo\assets\paid-overage-focus.png"/>
          <p:cNvPicPr>
            <a:picLocks noChangeAspect="1"/>
          </p:cNvPicPr>
          <p:nvPr/>
        </p:nvPicPr>
        <p:blipFill>
          <a:blip r:embed="rId3"/>
          <a:stretch>
            <a:fillRect/>
          </a:stretch>
        </p:blipFill>
        <p:spPr>
          <a:xfrm>
            <a:off x="594360" y="1527048"/>
            <a:ext cx="6565392" cy="4105656"/>
          </a:xfrm>
          <a:prstGeom prst="rect">
            <a:avLst/>
          </a:prstGeom>
        </p:spPr>
      </p:pic>
      <p:sp>
        <p:nvSpPr>
          <p:cNvPr id="6" name="Shape 3"/>
          <p:cNvSpPr/>
          <p:nvPr/>
        </p:nvSpPr>
        <p:spPr>
          <a:xfrm>
            <a:off x="8458200" y="1591056"/>
            <a:ext cx="3127248" cy="1188720"/>
          </a:xfrm>
          <a:prstGeom prst="roundRect">
            <a:avLst>
              <a:gd name="adj" fmla="val 4615"/>
            </a:avLst>
          </a:prstGeom>
          <a:solidFill>
            <a:srgbClr val="CCFBF1"/>
          </a:solidFill>
          <a:ln w="15240">
            <a:solidFill>
              <a:srgbClr val="2DD4BF"/>
            </a:solidFill>
            <a:prstDash val="solid"/>
          </a:ln>
        </p:spPr>
        <p:txBody>
          <a:bodyPr/>
          <a:lstStyle/>
          <a:p>
            <a:endParaRPr lang="en-BE"/>
          </a:p>
        </p:txBody>
      </p:sp>
      <p:sp>
        <p:nvSpPr>
          <p:cNvPr id="7" name="Text 4"/>
          <p:cNvSpPr/>
          <p:nvPr/>
        </p:nvSpPr>
        <p:spPr>
          <a:xfrm>
            <a:off x="8732520" y="1901952"/>
            <a:ext cx="2560320" cy="320040"/>
          </a:xfrm>
          <a:prstGeom prst="rect">
            <a:avLst/>
          </a:prstGeom>
          <a:noFill/>
          <a:ln/>
        </p:spPr>
        <p:txBody>
          <a:bodyPr wrap="square" lIns="0" tIns="0" rIns="0" bIns="0" rtlCol="0" anchor="ctr"/>
          <a:lstStyle/>
          <a:p>
            <a:pPr marL="0" indent="0" algn="ctr">
              <a:buNone/>
            </a:pPr>
            <a:r>
              <a:rPr lang="en-US" sz="2700" b="1" dirty="0">
                <a:solidFill>
                  <a:srgbClr val="0F766E"/>
                </a:solidFill>
              </a:rPr>
              <a:t>3,900 / 3,900</a:t>
            </a:r>
            <a:endParaRPr lang="en-US" sz="2700" dirty="0"/>
          </a:p>
        </p:txBody>
      </p:sp>
      <p:sp>
        <p:nvSpPr>
          <p:cNvPr id="8" name="Text 5"/>
          <p:cNvSpPr/>
          <p:nvPr/>
        </p:nvSpPr>
        <p:spPr>
          <a:xfrm>
            <a:off x="8732520" y="2350008"/>
            <a:ext cx="2560320" cy="155448"/>
          </a:xfrm>
          <a:prstGeom prst="rect">
            <a:avLst/>
          </a:prstGeom>
          <a:noFill/>
          <a:ln/>
        </p:spPr>
        <p:txBody>
          <a:bodyPr wrap="square" lIns="0" tIns="0" rIns="0" bIns="0" rtlCol="0" anchor="ctr"/>
          <a:lstStyle/>
          <a:p>
            <a:pPr marL="0" indent="0" algn="ctr">
              <a:buNone/>
            </a:pPr>
            <a:r>
              <a:rPr lang="en-US" sz="900" b="1" kern="0" spc="110" dirty="0">
                <a:solidFill>
                  <a:srgbClr val="0F766E"/>
                </a:solidFill>
              </a:rPr>
              <a:t>COST-CENTER INCLUDED CREDITS</a:t>
            </a:r>
            <a:endParaRPr lang="en-US" sz="900" dirty="0"/>
          </a:p>
        </p:txBody>
      </p:sp>
      <p:sp>
        <p:nvSpPr>
          <p:cNvPr id="9" name="Shape 6"/>
          <p:cNvSpPr/>
          <p:nvPr/>
        </p:nvSpPr>
        <p:spPr>
          <a:xfrm>
            <a:off x="8458200" y="3017520"/>
            <a:ext cx="3127248" cy="1188720"/>
          </a:xfrm>
          <a:prstGeom prst="roundRect">
            <a:avLst>
              <a:gd name="adj" fmla="val 4615"/>
            </a:avLst>
          </a:prstGeom>
          <a:solidFill>
            <a:srgbClr val="EDE9FE"/>
          </a:solidFill>
          <a:ln w="15240">
            <a:solidFill>
              <a:srgbClr val="6D28D9"/>
            </a:solidFill>
            <a:prstDash val="solid"/>
          </a:ln>
        </p:spPr>
        <p:txBody>
          <a:bodyPr/>
          <a:lstStyle/>
          <a:p>
            <a:endParaRPr lang="en-BE"/>
          </a:p>
        </p:txBody>
      </p:sp>
      <p:sp>
        <p:nvSpPr>
          <p:cNvPr id="10" name="Text 7"/>
          <p:cNvSpPr/>
          <p:nvPr/>
        </p:nvSpPr>
        <p:spPr>
          <a:xfrm>
            <a:off x="8732520" y="3328416"/>
            <a:ext cx="2560320" cy="320040"/>
          </a:xfrm>
          <a:prstGeom prst="rect">
            <a:avLst/>
          </a:prstGeom>
          <a:noFill/>
          <a:ln/>
        </p:spPr>
        <p:txBody>
          <a:bodyPr wrap="square" lIns="0" tIns="0" rIns="0" bIns="0" rtlCol="0" anchor="ctr"/>
          <a:lstStyle/>
          <a:p>
            <a:pPr marL="0" indent="0" algn="ctr">
              <a:buNone/>
            </a:pPr>
            <a:r>
              <a:rPr lang="en-US" sz="2700" b="1" dirty="0">
                <a:solidFill>
                  <a:srgbClr val="6D28D9"/>
                </a:solidFill>
              </a:rPr>
              <a:t>$24 → 80%</a:t>
            </a:r>
            <a:endParaRPr lang="en-US" sz="2700" dirty="0"/>
          </a:p>
        </p:txBody>
      </p:sp>
      <p:sp>
        <p:nvSpPr>
          <p:cNvPr id="11" name="Text 8"/>
          <p:cNvSpPr/>
          <p:nvPr/>
        </p:nvSpPr>
        <p:spPr>
          <a:xfrm>
            <a:off x="8668512" y="3776472"/>
            <a:ext cx="2688336" cy="155448"/>
          </a:xfrm>
          <a:prstGeom prst="rect">
            <a:avLst/>
          </a:prstGeom>
          <a:noFill/>
          <a:ln/>
        </p:spPr>
        <p:txBody>
          <a:bodyPr wrap="square" lIns="0" tIns="0" rIns="0" bIns="0" rtlCol="0" anchor="ctr"/>
          <a:lstStyle/>
          <a:p>
            <a:pPr marL="0" indent="0" algn="ctr">
              <a:buNone/>
            </a:pPr>
            <a:r>
              <a:rPr lang="en-US" sz="900" b="1" kern="0" spc="80" dirty="0">
                <a:solidFill>
                  <a:srgbClr val="6D28D9"/>
                </a:solidFill>
              </a:rPr>
              <a:t>PAID OVERAGE · 75% ALERT FIRES</a:t>
            </a:r>
            <a:endParaRPr lang="en-US" sz="900" dirty="0"/>
          </a:p>
        </p:txBody>
      </p:sp>
      <p:sp>
        <p:nvSpPr>
          <p:cNvPr id="12" name="Shape 9"/>
          <p:cNvSpPr/>
          <p:nvPr/>
        </p:nvSpPr>
        <p:spPr>
          <a:xfrm>
            <a:off x="8458200" y="4443984"/>
            <a:ext cx="3127248" cy="932688"/>
          </a:xfrm>
          <a:prstGeom prst="roundRect">
            <a:avLst>
              <a:gd name="adj" fmla="val 5882"/>
            </a:avLst>
          </a:prstGeom>
          <a:solidFill>
            <a:srgbClr val="0F172A"/>
          </a:solidFill>
          <a:ln w="12700">
            <a:solidFill>
              <a:srgbClr val="0F172A"/>
            </a:solidFill>
            <a:prstDash val="solid"/>
          </a:ln>
        </p:spPr>
        <p:txBody>
          <a:bodyPr/>
          <a:lstStyle/>
          <a:p>
            <a:endParaRPr lang="en-BE"/>
          </a:p>
        </p:txBody>
      </p:sp>
      <p:sp>
        <p:nvSpPr>
          <p:cNvPr id="13" name="Text 10"/>
          <p:cNvSpPr/>
          <p:nvPr/>
        </p:nvSpPr>
        <p:spPr>
          <a:xfrm>
            <a:off x="8732520" y="4690872"/>
            <a:ext cx="2560320" cy="228600"/>
          </a:xfrm>
          <a:prstGeom prst="rect">
            <a:avLst/>
          </a:prstGeom>
          <a:noFill/>
          <a:ln/>
        </p:spPr>
        <p:txBody>
          <a:bodyPr wrap="square" lIns="0" tIns="0" rIns="0" bIns="0" rtlCol="0" anchor="ctr"/>
          <a:lstStyle/>
          <a:p>
            <a:pPr marL="0" indent="0" algn="ctr">
              <a:buNone/>
            </a:pPr>
            <a:r>
              <a:rPr lang="en-US" sz="1900" b="1" dirty="0">
                <a:solidFill>
                  <a:srgbClr val="FFFFFF"/>
                </a:solidFill>
              </a:rPr>
              <a:t>Developer continues</a:t>
            </a:r>
            <a:endParaRPr lang="en-US" sz="1900" dirty="0"/>
          </a:p>
        </p:txBody>
      </p:sp>
      <p:sp>
        <p:nvSpPr>
          <p:cNvPr id="14" name="Text 11"/>
          <p:cNvSpPr/>
          <p:nvPr/>
        </p:nvSpPr>
        <p:spPr>
          <a:xfrm>
            <a:off x="8705088" y="5010912"/>
            <a:ext cx="2615184" cy="182880"/>
          </a:xfrm>
          <a:prstGeom prst="rect">
            <a:avLst/>
          </a:prstGeom>
          <a:noFill/>
          <a:ln/>
        </p:spPr>
        <p:txBody>
          <a:bodyPr wrap="square" lIns="0" tIns="0" rIns="0" bIns="0" rtlCol="0" anchor="ctr">
            <a:normAutofit/>
          </a:bodyPr>
          <a:lstStyle/>
          <a:p>
            <a:pPr marL="0" indent="0" algn="ctr">
              <a:buNone/>
            </a:pPr>
            <a:r>
              <a:rPr lang="en-US" sz="1050" dirty="0">
                <a:solidFill>
                  <a:srgbClr val="CBD5E1"/>
                </a:solidFill>
              </a:rPr>
              <a:t>Funding route and budget movement remain explicit.</a:t>
            </a:r>
            <a:endParaRPr lang="en-US" sz="1050" dirty="0"/>
          </a:p>
        </p:txBody>
      </p:sp>
      <p:sp>
        <p:nvSpPr>
          <p:cNvPr id="15" name="Text 12"/>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64748B"/>
                </a:solidFill>
                <a:latin typeface="Aptos" pitchFamily="34" charset="0"/>
                <a:ea typeface="Aptos" pitchFamily="34" charset="-122"/>
                <a:cs typeface="Aptos" pitchFamily="34" charset="-120"/>
              </a:rPr>
              <a:t>GITHUB </a:t>
            </a:r>
            <a:r>
              <a:rPr lang="en-US" sz="900" b="1" kern="0" spc="140" dirty="0">
                <a:solidFill>
                  <a:srgbClr val="64748B"/>
                </a:solidFill>
                <a:latin typeface="Aptos" pitchFamily="34" charset="0"/>
                <a:ea typeface="Aptos" pitchFamily="34" charset="-122"/>
                <a:cs typeface="Aptos" pitchFamily="34" charset="-120"/>
              </a:rPr>
              <a:t>COPILOT </a:t>
            </a:r>
            <a:r>
              <a:rPr lang="en-US" sz="900" b="1" kern="0" spc="140">
                <a:solidFill>
                  <a:srgbClr val="64748B"/>
                </a:solidFill>
                <a:latin typeface="Aptos" pitchFamily="34" charset="0"/>
                <a:ea typeface="Aptos" pitchFamily="34" charset="-122"/>
                <a:cs typeface="Aptos" pitchFamily="34" charset="-120"/>
              </a:rPr>
              <a:t>COST COMPASS</a:t>
            </a:r>
            <a:r>
              <a:rPr lang="en-US" sz="900" b="1" kern="0" spc="140" dirty="0">
                <a:solidFill>
                  <a:srgbClr val="64748B"/>
                </a:solidFill>
                <a:latin typeface="Aptos" pitchFamily="34" charset="0"/>
                <a:ea typeface="Aptos" pitchFamily="34" charset="-122"/>
                <a:cs typeface="Aptos" pitchFamily="34" charset="-120"/>
              </a:rPr>
              <a:t>  ·  2:45–4:10</a:t>
            </a:r>
            <a:endParaRPr lang="en-US" sz="900" dirty="0"/>
          </a:p>
        </p:txBody>
      </p:sp>
      <p:sp>
        <p:nvSpPr>
          <p:cNvPr id="16" name="Text 13"/>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0F766E"/>
                </a:solidFill>
                <a:latin typeface="Aptos" pitchFamily="34" charset="0"/>
                <a:ea typeface="Aptos" pitchFamily="34" charset="-122"/>
                <a:cs typeface="Apto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94360" y="438912"/>
            <a:ext cx="10881360" cy="566928"/>
          </a:xfrm>
          <a:prstGeom prst="rect">
            <a:avLst/>
          </a:prstGeom>
          <a:noFill/>
          <a:ln/>
        </p:spPr>
        <p:txBody>
          <a:bodyPr wrap="square" lIns="0" tIns="0" rIns="0" bIns="0" rtlCol="0" anchor="ctr">
            <a:normAutofit/>
          </a:bodyP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Decision two: stop at the exact boundary?</a:t>
            </a:r>
            <a:endParaRPr lang="en-US" sz="3100" dirty="0"/>
          </a:p>
        </p:txBody>
      </p:sp>
      <p:sp>
        <p:nvSpPr>
          <p:cNvPr id="3" name="Text 1"/>
          <p:cNvSpPr/>
          <p:nvPr/>
        </p:nvSpPr>
        <p:spPr>
          <a:xfrm>
            <a:off x="612648" y="1060704"/>
            <a:ext cx="10515600" cy="347472"/>
          </a:xfrm>
          <a:prstGeom prst="rect">
            <a:avLst/>
          </a:prstGeom>
          <a:noFill/>
          <a:ln/>
        </p:spPr>
        <p:txBody>
          <a:bodyPr wrap="square" lIns="0" tIns="0" rIns="0" bIns="0" rtlCol="0" anchor="ctr">
            <a:normAutofit/>
          </a:bodyPr>
          <a:lstStyle/>
          <a:p>
            <a:pPr marL="0" indent="0">
              <a:buNone/>
            </a:pPr>
            <a:r>
              <a:rPr lang="en-US" sz="1500" dirty="0">
                <a:solidFill>
                  <a:srgbClr val="64748B"/>
                </a:solidFill>
                <a:latin typeface="Aptos" pitchFamily="34" charset="0"/>
                <a:ea typeface="Aptos" pitchFamily="34" charset="-122"/>
                <a:cs typeface="Aptos" pitchFamily="34" charset="-120"/>
              </a:rPr>
              <a:t>A user-level budget accepts the limit, then rejects the next event atomically.</a:t>
            </a:r>
            <a:endParaRPr lang="en-US" sz="1500" dirty="0"/>
          </a:p>
        </p:txBody>
      </p:sp>
      <p:sp>
        <p:nvSpPr>
          <p:cNvPr id="4" name="Shape 2"/>
          <p:cNvSpPr/>
          <p:nvPr/>
        </p:nvSpPr>
        <p:spPr>
          <a:xfrm>
            <a:off x="521208" y="1773936"/>
            <a:ext cx="7626096" cy="3364992"/>
          </a:xfrm>
          <a:prstGeom prst="roundRect">
            <a:avLst>
              <a:gd name="adj" fmla="val 1630"/>
            </a:avLst>
          </a:prstGeom>
          <a:solidFill>
            <a:srgbClr val="FFFFFF"/>
          </a:solidFill>
          <a:ln w="12700">
            <a:solidFill>
              <a:srgbClr val="CBD5E1"/>
            </a:solidFill>
            <a:prstDash val="solid"/>
          </a:ln>
          <a:effectLst>
            <a:outerShdw blurRad="38100" dist="50800" dir="2700000" algn="bl" rotWithShape="0">
              <a:srgbClr val="000000">
                <a:alpha val="14000"/>
              </a:srgbClr>
            </a:outerShdw>
          </a:effectLst>
        </p:spPr>
        <p:txBody>
          <a:bodyPr/>
          <a:lstStyle/>
          <a:p>
            <a:endParaRPr lang="en-BE"/>
          </a:p>
        </p:txBody>
      </p:sp>
      <p:pic>
        <p:nvPicPr>
          <p:cNvPr id="5" name="Image 0" descr="C:\Users\squintelier\github-app\copilot-worktrees\gh-setup\sujithq-expert-pancake\demo\assets\hard-stop-focus.png"/>
          <p:cNvPicPr>
            <a:picLocks noChangeAspect="1"/>
          </p:cNvPicPr>
          <p:nvPr/>
        </p:nvPicPr>
        <p:blipFill>
          <a:blip r:embed="rId3"/>
          <a:stretch>
            <a:fillRect/>
          </a:stretch>
        </p:blipFill>
        <p:spPr>
          <a:xfrm>
            <a:off x="594360" y="1847088"/>
            <a:ext cx="7479792" cy="3218688"/>
          </a:xfrm>
          <a:prstGeom prst="rect">
            <a:avLst/>
          </a:prstGeom>
        </p:spPr>
      </p:pic>
      <p:sp>
        <p:nvSpPr>
          <p:cNvPr id="6" name="Shape 3"/>
          <p:cNvSpPr/>
          <p:nvPr/>
        </p:nvSpPr>
        <p:spPr>
          <a:xfrm>
            <a:off x="8458200" y="1627632"/>
            <a:ext cx="3127248" cy="1133856"/>
          </a:xfrm>
          <a:prstGeom prst="roundRect">
            <a:avLst>
              <a:gd name="adj" fmla="val 4839"/>
            </a:avLst>
          </a:prstGeom>
          <a:solidFill>
            <a:srgbClr val="CCFBF1"/>
          </a:solidFill>
          <a:ln w="15240">
            <a:solidFill>
              <a:srgbClr val="2DD4BF"/>
            </a:solidFill>
            <a:prstDash val="solid"/>
          </a:ln>
        </p:spPr>
        <p:txBody>
          <a:bodyPr/>
          <a:lstStyle/>
          <a:p>
            <a:endParaRPr lang="en-BE"/>
          </a:p>
        </p:txBody>
      </p:sp>
      <p:sp>
        <p:nvSpPr>
          <p:cNvPr id="7" name="Text 4"/>
          <p:cNvSpPr/>
          <p:nvPr/>
        </p:nvSpPr>
        <p:spPr>
          <a:xfrm>
            <a:off x="8732520" y="1901952"/>
            <a:ext cx="2560320" cy="320040"/>
          </a:xfrm>
          <a:prstGeom prst="rect">
            <a:avLst/>
          </a:prstGeom>
          <a:noFill/>
          <a:ln/>
        </p:spPr>
        <p:txBody>
          <a:bodyPr wrap="square" lIns="0" tIns="0" rIns="0" bIns="0" rtlCol="0" anchor="ctr"/>
          <a:lstStyle/>
          <a:p>
            <a:pPr marL="0" indent="0" algn="ctr">
              <a:buNone/>
            </a:pPr>
            <a:r>
              <a:rPr lang="en-US" sz="2900" b="1" dirty="0">
                <a:solidFill>
                  <a:srgbClr val="0F766E"/>
                </a:solidFill>
              </a:rPr>
              <a:t>$10.00</a:t>
            </a:r>
            <a:endParaRPr lang="en-US" sz="2900" dirty="0"/>
          </a:p>
        </p:txBody>
      </p:sp>
      <p:sp>
        <p:nvSpPr>
          <p:cNvPr id="8" name="Text 5"/>
          <p:cNvSpPr/>
          <p:nvPr/>
        </p:nvSpPr>
        <p:spPr>
          <a:xfrm>
            <a:off x="8732520" y="2331720"/>
            <a:ext cx="2560320" cy="164592"/>
          </a:xfrm>
          <a:prstGeom prst="rect">
            <a:avLst/>
          </a:prstGeom>
          <a:noFill/>
          <a:ln/>
        </p:spPr>
        <p:txBody>
          <a:bodyPr wrap="square" lIns="0" tIns="0" rIns="0" bIns="0" rtlCol="0" anchor="ctr"/>
          <a:lstStyle/>
          <a:p>
            <a:pPr marL="0" indent="0" algn="ctr">
              <a:buNone/>
            </a:pPr>
            <a:r>
              <a:rPr lang="en-US" sz="900" b="1" kern="0" spc="120" dirty="0">
                <a:solidFill>
                  <a:srgbClr val="0F766E"/>
                </a:solidFill>
              </a:rPr>
              <a:t>EXACT LIMIT · ACCEPTED</a:t>
            </a:r>
            <a:endParaRPr lang="en-US" sz="900" dirty="0"/>
          </a:p>
        </p:txBody>
      </p:sp>
      <p:sp>
        <p:nvSpPr>
          <p:cNvPr id="9" name="Text 6"/>
          <p:cNvSpPr/>
          <p:nvPr/>
        </p:nvSpPr>
        <p:spPr>
          <a:xfrm>
            <a:off x="8823960" y="2916936"/>
            <a:ext cx="2377440" cy="228600"/>
          </a:xfrm>
          <a:prstGeom prst="rect">
            <a:avLst/>
          </a:prstGeom>
          <a:noFill/>
          <a:ln/>
        </p:spPr>
        <p:txBody>
          <a:bodyPr wrap="square" lIns="0" tIns="0" rIns="0" bIns="0" rtlCol="0" anchor="ctr"/>
          <a:lstStyle/>
          <a:p>
            <a:pPr marL="0" indent="0" algn="ctr">
              <a:buNone/>
            </a:pPr>
            <a:r>
              <a:rPr lang="en-US" sz="1400" b="1" dirty="0">
                <a:solidFill>
                  <a:srgbClr val="64748B"/>
                </a:solidFill>
              </a:rPr>
              <a:t>↓  one more credit</a:t>
            </a:r>
            <a:endParaRPr lang="en-US" sz="1400" dirty="0"/>
          </a:p>
        </p:txBody>
      </p:sp>
      <p:sp>
        <p:nvSpPr>
          <p:cNvPr id="10" name="Shape 7"/>
          <p:cNvSpPr/>
          <p:nvPr/>
        </p:nvSpPr>
        <p:spPr>
          <a:xfrm>
            <a:off x="8458200" y="3319272"/>
            <a:ext cx="3127248" cy="1133856"/>
          </a:xfrm>
          <a:prstGeom prst="roundRect">
            <a:avLst>
              <a:gd name="adj" fmla="val 4839"/>
            </a:avLst>
          </a:prstGeom>
          <a:solidFill>
            <a:srgbClr val="FEE2E2"/>
          </a:solidFill>
          <a:ln w="15240">
            <a:solidFill>
              <a:srgbClr val="DC2626"/>
            </a:solidFill>
            <a:prstDash val="solid"/>
          </a:ln>
        </p:spPr>
        <p:txBody>
          <a:bodyPr/>
          <a:lstStyle/>
          <a:p>
            <a:endParaRPr lang="en-BE"/>
          </a:p>
        </p:txBody>
      </p:sp>
      <p:sp>
        <p:nvSpPr>
          <p:cNvPr id="11" name="Text 8"/>
          <p:cNvSpPr/>
          <p:nvPr/>
        </p:nvSpPr>
        <p:spPr>
          <a:xfrm>
            <a:off x="8732520" y="3593592"/>
            <a:ext cx="2560320" cy="320040"/>
          </a:xfrm>
          <a:prstGeom prst="rect">
            <a:avLst/>
          </a:prstGeom>
          <a:noFill/>
          <a:ln/>
        </p:spPr>
        <p:txBody>
          <a:bodyPr wrap="square" lIns="0" tIns="0" rIns="0" bIns="0" rtlCol="0" anchor="ctr"/>
          <a:lstStyle/>
          <a:p>
            <a:pPr marL="0" indent="0" algn="ctr">
              <a:buNone/>
            </a:pPr>
            <a:r>
              <a:rPr lang="en-US" sz="2900" b="1" dirty="0">
                <a:solidFill>
                  <a:srgbClr val="DC2626"/>
                </a:solidFill>
              </a:rPr>
              <a:t>$10.01</a:t>
            </a:r>
            <a:endParaRPr lang="en-US" sz="2900" dirty="0"/>
          </a:p>
        </p:txBody>
      </p:sp>
      <p:sp>
        <p:nvSpPr>
          <p:cNvPr id="12" name="Text 9"/>
          <p:cNvSpPr/>
          <p:nvPr/>
        </p:nvSpPr>
        <p:spPr>
          <a:xfrm>
            <a:off x="8732520" y="4023360"/>
            <a:ext cx="2560320" cy="164592"/>
          </a:xfrm>
          <a:prstGeom prst="rect">
            <a:avLst/>
          </a:prstGeom>
          <a:noFill/>
          <a:ln/>
        </p:spPr>
        <p:txBody>
          <a:bodyPr wrap="square" lIns="0" tIns="0" rIns="0" bIns="0" rtlCol="0" anchor="ctr"/>
          <a:lstStyle/>
          <a:p>
            <a:pPr marL="0" indent="0" algn="ctr">
              <a:buNone/>
            </a:pPr>
            <a:r>
              <a:rPr lang="en-US" sz="900" b="1" kern="0" spc="110" dirty="0">
                <a:solidFill>
                  <a:srgbClr val="DC2626"/>
                </a:solidFill>
              </a:rPr>
              <a:t>WOULD EXCEED · BLOCKED</a:t>
            </a:r>
            <a:endParaRPr lang="en-US" sz="900" dirty="0"/>
          </a:p>
        </p:txBody>
      </p:sp>
      <p:sp>
        <p:nvSpPr>
          <p:cNvPr id="13" name="Shape 10"/>
          <p:cNvSpPr/>
          <p:nvPr/>
        </p:nvSpPr>
        <p:spPr>
          <a:xfrm>
            <a:off x="8458200" y="4709160"/>
            <a:ext cx="3127248" cy="713232"/>
          </a:xfrm>
          <a:prstGeom prst="roundRect">
            <a:avLst>
              <a:gd name="adj" fmla="val 7692"/>
            </a:avLst>
          </a:prstGeom>
          <a:solidFill>
            <a:srgbClr val="0F172A"/>
          </a:solidFill>
          <a:ln w="12700">
            <a:solidFill>
              <a:srgbClr val="0F172A"/>
            </a:solidFill>
            <a:prstDash val="solid"/>
          </a:ln>
        </p:spPr>
        <p:txBody>
          <a:bodyPr/>
          <a:lstStyle/>
          <a:p>
            <a:endParaRPr lang="en-BE"/>
          </a:p>
        </p:txBody>
      </p:sp>
      <p:sp>
        <p:nvSpPr>
          <p:cNvPr id="14" name="Text 11"/>
          <p:cNvSpPr/>
          <p:nvPr/>
        </p:nvSpPr>
        <p:spPr>
          <a:xfrm>
            <a:off x="8659368" y="4956048"/>
            <a:ext cx="2724912" cy="164592"/>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0 credits consumed  ·  0 counters changed</a:t>
            </a:r>
            <a:endParaRPr lang="en-US" sz="1150" dirty="0"/>
          </a:p>
        </p:txBody>
      </p:sp>
      <p:sp>
        <p:nvSpPr>
          <p:cNvPr id="15" name="Text 12"/>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64748B"/>
                </a:solidFill>
                <a:latin typeface="Aptos" pitchFamily="34" charset="0"/>
                <a:ea typeface="Aptos" pitchFamily="34" charset="-122"/>
                <a:cs typeface="Aptos" pitchFamily="34" charset="-120"/>
              </a:rPr>
              <a:t>GITHUB </a:t>
            </a:r>
            <a:r>
              <a:rPr lang="en-US" sz="900" b="1" kern="0" spc="140" dirty="0">
                <a:solidFill>
                  <a:srgbClr val="64748B"/>
                </a:solidFill>
                <a:latin typeface="Aptos" pitchFamily="34" charset="0"/>
                <a:ea typeface="Aptos" pitchFamily="34" charset="-122"/>
                <a:cs typeface="Aptos" pitchFamily="34" charset="-120"/>
              </a:rPr>
              <a:t>COPILOT </a:t>
            </a:r>
            <a:r>
              <a:rPr lang="en-US" sz="900" b="1" kern="0" spc="140">
                <a:solidFill>
                  <a:srgbClr val="64748B"/>
                </a:solidFill>
                <a:latin typeface="Aptos" pitchFamily="34" charset="0"/>
                <a:ea typeface="Aptos" pitchFamily="34" charset="-122"/>
                <a:cs typeface="Aptos" pitchFamily="34" charset="-120"/>
              </a:rPr>
              <a:t>COST COMPASS</a:t>
            </a:r>
            <a:r>
              <a:rPr lang="en-US" sz="900" b="1" kern="0" spc="140" dirty="0">
                <a:solidFill>
                  <a:srgbClr val="64748B"/>
                </a:solidFill>
                <a:latin typeface="Aptos" pitchFamily="34" charset="0"/>
                <a:ea typeface="Aptos" pitchFamily="34" charset="-122"/>
                <a:cs typeface="Aptos" pitchFamily="34" charset="-120"/>
              </a:rPr>
              <a:t>  ·  4:10–5:20</a:t>
            </a:r>
            <a:endParaRPr lang="en-US" sz="900" dirty="0"/>
          </a:p>
        </p:txBody>
      </p:sp>
      <p:sp>
        <p:nvSpPr>
          <p:cNvPr id="16" name="Text 13"/>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0F766E"/>
                </a:solidFill>
                <a:latin typeface="Aptos" pitchFamily="34" charset="0"/>
                <a:ea typeface="Aptos" pitchFamily="34" charset="-122"/>
                <a:cs typeface="Apto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58368" y="530352"/>
            <a:ext cx="2148840" cy="329184"/>
          </a:xfrm>
          <a:prstGeom prst="roundRect">
            <a:avLst>
              <a:gd name="adj" fmla="val 22222"/>
            </a:avLst>
          </a:prstGeom>
          <a:solidFill>
            <a:srgbClr val="CCFBF1"/>
          </a:solidFill>
          <a:ln w="12700">
            <a:solidFill>
              <a:srgbClr val="CCFBF1"/>
            </a:solidFill>
            <a:prstDash val="solid"/>
          </a:ln>
        </p:spPr>
        <p:txBody>
          <a:bodyPr/>
          <a:lstStyle/>
          <a:p>
            <a:endParaRPr lang="en-BE"/>
          </a:p>
        </p:txBody>
      </p:sp>
      <p:sp>
        <p:nvSpPr>
          <p:cNvPr id="3" name="Text 1"/>
          <p:cNvSpPr/>
          <p:nvPr/>
        </p:nvSpPr>
        <p:spPr>
          <a:xfrm>
            <a:off x="731520" y="598932"/>
            <a:ext cx="2002536" cy="146304"/>
          </a:xfrm>
          <a:prstGeom prst="rect">
            <a:avLst/>
          </a:prstGeom>
          <a:noFill/>
          <a:ln/>
        </p:spPr>
        <p:txBody>
          <a:bodyPr wrap="square" lIns="0" tIns="0" rIns="0" bIns="0" rtlCol="0" anchor="ctr"/>
          <a:lstStyle/>
          <a:p>
            <a:pPr marL="0" indent="0" algn="ctr">
              <a:buNone/>
            </a:pPr>
            <a:r>
              <a:rPr lang="en-US" sz="1000" b="1" kern="0" spc="50" dirty="0">
                <a:solidFill>
                  <a:srgbClr val="0F766E"/>
                </a:solidFill>
              </a:rPr>
              <a:t>AGREE BEFORE DEPLOYMENT</a:t>
            </a:r>
            <a:endParaRPr lang="en-US" sz="1000" dirty="0"/>
          </a:p>
        </p:txBody>
      </p:sp>
      <p:sp>
        <p:nvSpPr>
          <p:cNvPr id="4" name="Text 2"/>
          <p:cNvSpPr/>
          <p:nvPr/>
        </p:nvSpPr>
        <p:spPr>
          <a:xfrm>
            <a:off x="658368" y="1243584"/>
            <a:ext cx="10744200" cy="658368"/>
          </a:xfrm>
          <a:prstGeom prst="rect">
            <a:avLst/>
          </a:prstGeom>
          <a:noFill/>
          <a:ln/>
        </p:spPr>
        <p:txBody>
          <a:bodyPr wrap="square" lIns="0" tIns="0" rIns="0" bIns="0"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Generate -&gt; simulate -&gt; inspect -&gt; agree.</a:t>
            </a:r>
            <a:endParaRPr lang="en-US" sz="4200" dirty="0"/>
          </a:p>
        </p:txBody>
      </p:sp>
      <p:sp>
        <p:nvSpPr>
          <p:cNvPr id="5" name="Text 3"/>
          <p:cNvSpPr/>
          <p:nvPr/>
        </p:nvSpPr>
        <p:spPr>
          <a:xfrm>
            <a:off x="685800" y="2011680"/>
            <a:ext cx="8503920" cy="411480"/>
          </a:xfrm>
          <a:prstGeom prst="rect">
            <a:avLst/>
          </a:prstGeom>
          <a:noFill/>
          <a:ln/>
        </p:spPr>
        <p:txBody>
          <a:bodyPr wrap="square" lIns="0" tIns="0" rIns="0" bIns="0" rtlCol="0" anchor="ctr"/>
          <a:lstStyle/>
          <a:p>
            <a:pPr marL="0" indent="0">
              <a:buNone/>
            </a:pPr>
            <a:r>
              <a:rPr lang="en-US" sz="2000" dirty="0">
                <a:solidFill>
                  <a:srgbClr val="CBD5E1"/>
                </a:solidFill>
              </a:rPr>
              <a:t>Turn a policy conversation into a repeatable decision workflow.</a:t>
            </a:r>
            <a:endParaRPr lang="en-US" sz="2000" dirty="0"/>
          </a:p>
        </p:txBody>
      </p:sp>
      <p:sp>
        <p:nvSpPr>
          <p:cNvPr id="6" name="Shape 4"/>
          <p:cNvSpPr/>
          <p:nvPr/>
        </p:nvSpPr>
        <p:spPr>
          <a:xfrm>
            <a:off x="685800" y="2880360"/>
            <a:ext cx="2395728" cy="1874520"/>
          </a:xfrm>
          <a:prstGeom prst="roundRect">
            <a:avLst>
              <a:gd name="adj" fmla="val 3415"/>
            </a:avLst>
          </a:prstGeom>
          <a:solidFill>
            <a:srgbClr val="172033"/>
          </a:solidFill>
          <a:ln w="12700">
            <a:solidFill>
              <a:srgbClr val="334155"/>
            </a:solidFill>
            <a:prstDash val="solid"/>
          </a:ln>
        </p:spPr>
        <p:txBody>
          <a:bodyPr/>
          <a:lstStyle/>
          <a:p>
            <a:endParaRPr lang="en-BE"/>
          </a:p>
        </p:txBody>
      </p:sp>
      <p:sp>
        <p:nvSpPr>
          <p:cNvPr id="7" name="Shape 5"/>
          <p:cNvSpPr/>
          <p:nvPr/>
        </p:nvSpPr>
        <p:spPr>
          <a:xfrm>
            <a:off x="905256" y="3136392"/>
            <a:ext cx="502920" cy="502920"/>
          </a:xfrm>
          <a:prstGeom prst="ellipse">
            <a:avLst/>
          </a:prstGeom>
          <a:solidFill>
            <a:srgbClr val="2DD4BF"/>
          </a:solidFill>
          <a:ln w="12700">
            <a:solidFill>
              <a:srgbClr val="2DD4BF"/>
            </a:solidFill>
            <a:prstDash val="solid"/>
          </a:ln>
        </p:spPr>
        <p:txBody>
          <a:bodyPr/>
          <a:lstStyle/>
          <a:p>
            <a:endParaRPr lang="en-BE"/>
          </a:p>
        </p:txBody>
      </p:sp>
      <p:sp>
        <p:nvSpPr>
          <p:cNvPr id="8" name="Text 6"/>
          <p:cNvSpPr/>
          <p:nvPr/>
        </p:nvSpPr>
        <p:spPr>
          <a:xfrm>
            <a:off x="905256" y="3273552"/>
            <a:ext cx="502920" cy="146304"/>
          </a:xfrm>
          <a:prstGeom prst="rect">
            <a:avLst/>
          </a:prstGeom>
          <a:noFill/>
          <a:ln/>
        </p:spPr>
        <p:txBody>
          <a:bodyPr wrap="square" lIns="0" tIns="0" rIns="0" bIns="0" rtlCol="0" anchor="ctr"/>
          <a:lstStyle/>
          <a:p>
            <a:pPr marL="0" indent="0" algn="ctr">
              <a:buNone/>
            </a:pPr>
            <a:r>
              <a:rPr lang="en-US" sz="1200" b="1" dirty="0">
                <a:solidFill>
                  <a:srgbClr val="0F172A"/>
                </a:solidFill>
              </a:rPr>
              <a:t>1</a:t>
            </a:r>
            <a:endParaRPr lang="en-US" sz="1200" dirty="0"/>
          </a:p>
        </p:txBody>
      </p:sp>
      <p:sp>
        <p:nvSpPr>
          <p:cNvPr id="9" name="Text 7"/>
          <p:cNvSpPr/>
          <p:nvPr/>
        </p:nvSpPr>
        <p:spPr>
          <a:xfrm>
            <a:off x="905256" y="3822192"/>
            <a:ext cx="1920240" cy="274320"/>
          </a:xfrm>
          <a:prstGeom prst="rect">
            <a:avLst/>
          </a:prstGeom>
          <a:noFill/>
          <a:ln/>
        </p:spPr>
        <p:txBody>
          <a:bodyPr wrap="square" lIns="0" tIns="0" rIns="0" bIns="0" rtlCol="0" anchor="ctr"/>
          <a:lstStyle/>
          <a:p>
            <a:pPr marL="0" indent="0">
              <a:buNone/>
            </a:pPr>
            <a:r>
              <a:rPr lang="en-US" sz="2100" b="1" dirty="0">
                <a:solidFill>
                  <a:srgbClr val="FFFFFF"/>
                </a:solidFill>
              </a:rPr>
              <a:t>Describe</a:t>
            </a:r>
            <a:endParaRPr lang="en-US" sz="2100" dirty="0"/>
          </a:p>
        </p:txBody>
      </p:sp>
      <p:sp>
        <p:nvSpPr>
          <p:cNvPr id="10" name="Text 8"/>
          <p:cNvSpPr/>
          <p:nvPr/>
        </p:nvSpPr>
        <p:spPr>
          <a:xfrm>
            <a:off x="905256" y="4215384"/>
            <a:ext cx="1920240" cy="384048"/>
          </a:xfrm>
          <a:prstGeom prst="rect">
            <a:avLst/>
          </a:prstGeom>
          <a:noFill/>
          <a:ln/>
        </p:spPr>
        <p:txBody>
          <a:bodyPr wrap="square" lIns="0" tIns="0" rIns="0" bIns="0" rtlCol="0" anchor="ctr">
            <a:normAutofit/>
          </a:bodyPr>
          <a:lstStyle/>
          <a:p>
            <a:pPr marL="0" indent="0">
              <a:buNone/>
            </a:pPr>
            <a:r>
              <a:rPr lang="en-US" sz="1250" dirty="0">
                <a:solidFill>
                  <a:srgbClr val="CBD5E1"/>
                </a:solidFill>
              </a:rPr>
              <a:t>Tenant, personas, policies, and the question to answer.</a:t>
            </a:r>
            <a:endParaRPr lang="en-US" sz="1250" dirty="0"/>
          </a:p>
        </p:txBody>
      </p:sp>
      <p:sp>
        <p:nvSpPr>
          <p:cNvPr id="11" name="Shape 9"/>
          <p:cNvSpPr/>
          <p:nvPr/>
        </p:nvSpPr>
        <p:spPr>
          <a:xfrm>
            <a:off x="3447288" y="2880360"/>
            <a:ext cx="2395728" cy="1874520"/>
          </a:xfrm>
          <a:prstGeom prst="roundRect">
            <a:avLst>
              <a:gd name="adj" fmla="val 3415"/>
            </a:avLst>
          </a:prstGeom>
          <a:solidFill>
            <a:srgbClr val="172033"/>
          </a:solidFill>
          <a:ln w="12700">
            <a:solidFill>
              <a:srgbClr val="334155"/>
            </a:solidFill>
            <a:prstDash val="solid"/>
          </a:ln>
        </p:spPr>
        <p:txBody>
          <a:bodyPr/>
          <a:lstStyle/>
          <a:p>
            <a:endParaRPr lang="en-BE"/>
          </a:p>
        </p:txBody>
      </p:sp>
      <p:sp>
        <p:nvSpPr>
          <p:cNvPr id="12" name="Shape 10"/>
          <p:cNvSpPr/>
          <p:nvPr/>
        </p:nvSpPr>
        <p:spPr>
          <a:xfrm>
            <a:off x="3666744" y="3136392"/>
            <a:ext cx="502920" cy="502920"/>
          </a:xfrm>
          <a:prstGeom prst="ellipse">
            <a:avLst/>
          </a:prstGeom>
          <a:solidFill>
            <a:srgbClr val="2DD4BF"/>
          </a:solidFill>
          <a:ln w="12700">
            <a:solidFill>
              <a:srgbClr val="2DD4BF"/>
            </a:solidFill>
            <a:prstDash val="solid"/>
          </a:ln>
        </p:spPr>
        <p:txBody>
          <a:bodyPr/>
          <a:lstStyle/>
          <a:p>
            <a:endParaRPr lang="en-BE"/>
          </a:p>
        </p:txBody>
      </p:sp>
      <p:sp>
        <p:nvSpPr>
          <p:cNvPr id="13" name="Text 11"/>
          <p:cNvSpPr/>
          <p:nvPr/>
        </p:nvSpPr>
        <p:spPr>
          <a:xfrm>
            <a:off x="3666744" y="3273552"/>
            <a:ext cx="502920" cy="146304"/>
          </a:xfrm>
          <a:prstGeom prst="rect">
            <a:avLst/>
          </a:prstGeom>
          <a:noFill/>
          <a:ln/>
        </p:spPr>
        <p:txBody>
          <a:bodyPr wrap="square" lIns="0" tIns="0" rIns="0" bIns="0" rtlCol="0" anchor="ctr"/>
          <a:lstStyle/>
          <a:p>
            <a:pPr marL="0" indent="0" algn="ctr">
              <a:buNone/>
            </a:pPr>
            <a:r>
              <a:rPr lang="en-US" sz="1200" b="1" dirty="0">
                <a:solidFill>
                  <a:srgbClr val="0F172A"/>
                </a:solidFill>
              </a:rPr>
              <a:t>2</a:t>
            </a:r>
            <a:endParaRPr lang="en-US" sz="1200" dirty="0"/>
          </a:p>
        </p:txBody>
      </p:sp>
      <p:sp>
        <p:nvSpPr>
          <p:cNvPr id="14" name="Text 12"/>
          <p:cNvSpPr/>
          <p:nvPr/>
        </p:nvSpPr>
        <p:spPr>
          <a:xfrm>
            <a:off x="3666744" y="3822192"/>
            <a:ext cx="1920240" cy="274320"/>
          </a:xfrm>
          <a:prstGeom prst="rect">
            <a:avLst/>
          </a:prstGeom>
          <a:noFill/>
          <a:ln/>
        </p:spPr>
        <p:txBody>
          <a:bodyPr wrap="square" lIns="0" tIns="0" rIns="0" bIns="0" rtlCol="0" anchor="ctr"/>
          <a:lstStyle/>
          <a:p>
            <a:pPr marL="0" indent="0">
              <a:buNone/>
            </a:pPr>
            <a:r>
              <a:rPr lang="en-US" sz="2100" b="1" dirty="0">
                <a:solidFill>
                  <a:srgbClr val="FFFFFF"/>
                </a:solidFill>
              </a:rPr>
              <a:t>Generate</a:t>
            </a:r>
            <a:endParaRPr lang="en-US" sz="2100" dirty="0"/>
          </a:p>
        </p:txBody>
      </p:sp>
      <p:sp>
        <p:nvSpPr>
          <p:cNvPr id="15" name="Text 13"/>
          <p:cNvSpPr/>
          <p:nvPr/>
        </p:nvSpPr>
        <p:spPr>
          <a:xfrm>
            <a:off x="3666744" y="4215384"/>
            <a:ext cx="1920240" cy="384048"/>
          </a:xfrm>
          <a:prstGeom prst="rect">
            <a:avLst/>
          </a:prstGeom>
          <a:noFill/>
          <a:ln/>
        </p:spPr>
        <p:txBody>
          <a:bodyPr wrap="square" lIns="0" tIns="0" rIns="0" bIns="0" rtlCol="0" anchor="ctr">
            <a:normAutofit/>
          </a:bodyPr>
          <a:lstStyle/>
          <a:p>
            <a:pPr marL="0" indent="0">
              <a:buNone/>
            </a:pPr>
            <a:r>
              <a:rPr lang="en-US" sz="1250" dirty="0">
                <a:solidFill>
                  <a:srgbClr val="CBD5E1"/>
                </a:solidFill>
              </a:rPr>
              <a:t>Synthetic environment and deterministic lesson.</a:t>
            </a:r>
            <a:endParaRPr lang="en-US" sz="1250" dirty="0"/>
          </a:p>
        </p:txBody>
      </p:sp>
      <p:sp>
        <p:nvSpPr>
          <p:cNvPr id="16" name="Shape 14"/>
          <p:cNvSpPr/>
          <p:nvPr/>
        </p:nvSpPr>
        <p:spPr>
          <a:xfrm>
            <a:off x="6208776" y="2880360"/>
            <a:ext cx="2395728" cy="1874520"/>
          </a:xfrm>
          <a:prstGeom prst="roundRect">
            <a:avLst>
              <a:gd name="adj" fmla="val 3415"/>
            </a:avLst>
          </a:prstGeom>
          <a:solidFill>
            <a:srgbClr val="172033"/>
          </a:solidFill>
          <a:ln w="12700">
            <a:solidFill>
              <a:srgbClr val="334155"/>
            </a:solidFill>
            <a:prstDash val="solid"/>
          </a:ln>
        </p:spPr>
        <p:txBody>
          <a:bodyPr/>
          <a:lstStyle/>
          <a:p>
            <a:endParaRPr lang="en-BE"/>
          </a:p>
        </p:txBody>
      </p:sp>
      <p:sp>
        <p:nvSpPr>
          <p:cNvPr id="17" name="Shape 15"/>
          <p:cNvSpPr/>
          <p:nvPr/>
        </p:nvSpPr>
        <p:spPr>
          <a:xfrm>
            <a:off x="6428232" y="3136392"/>
            <a:ext cx="502920" cy="502920"/>
          </a:xfrm>
          <a:prstGeom prst="ellipse">
            <a:avLst/>
          </a:prstGeom>
          <a:solidFill>
            <a:srgbClr val="2DD4BF"/>
          </a:solidFill>
          <a:ln w="12700">
            <a:solidFill>
              <a:srgbClr val="2DD4BF"/>
            </a:solidFill>
            <a:prstDash val="solid"/>
          </a:ln>
        </p:spPr>
        <p:txBody>
          <a:bodyPr/>
          <a:lstStyle/>
          <a:p>
            <a:endParaRPr lang="en-BE"/>
          </a:p>
        </p:txBody>
      </p:sp>
      <p:sp>
        <p:nvSpPr>
          <p:cNvPr id="18" name="Text 16"/>
          <p:cNvSpPr/>
          <p:nvPr/>
        </p:nvSpPr>
        <p:spPr>
          <a:xfrm>
            <a:off x="6428232" y="3273552"/>
            <a:ext cx="502920" cy="146304"/>
          </a:xfrm>
          <a:prstGeom prst="rect">
            <a:avLst/>
          </a:prstGeom>
          <a:noFill/>
          <a:ln/>
        </p:spPr>
        <p:txBody>
          <a:bodyPr wrap="square" lIns="0" tIns="0" rIns="0" bIns="0" rtlCol="0" anchor="ctr"/>
          <a:lstStyle/>
          <a:p>
            <a:pPr marL="0" indent="0" algn="ctr">
              <a:buNone/>
            </a:pPr>
            <a:r>
              <a:rPr lang="en-US" sz="1200" b="1" dirty="0">
                <a:solidFill>
                  <a:srgbClr val="0F172A"/>
                </a:solidFill>
              </a:rPr>
              <a:t>3</a:t>
            </a:r>
            <a:endParaRPr lang="en-US" sz="1200" dirty="0"/>
          </a:p>
        </p:txBody>
      </p:sp>
      <p:sp>
        <p:nvSpPr>
          <p:cNvPr id="19" name="Text 17"/>
          <p:cNvSpPr/>
          <p:nvPr/>
        </p:nvSpPr>
        <p:spPr>
          <a:xfrm>
            <a:off x="6428232" y="3822192"/>
            <a:ext cx="1920240" cy="274320"/>
          </a:xfrm>
          <a:prstGeom prst="rect">
            <a:avLst/>
          </a:prstGeom>
          <a:noFill/>
          <a:ln/>
        </p:spPr>
        <p:txBody>
          <a:bodyPr wrap="square" lIns="0" tIns="0" rIns="0" bIns="0" rtlCol="0" anchor="ctr"/>
          <a:lstStyle/>
          <a:p>
            <a:pPr marL="0" indent="0">
              <a:buNone/>
            </a:pPr>
            <a:r>
              <a:rPr lang="en-US" sz="2100" b="1" dirty="0">
                <a:solidFill>
                  <a:srgbClr val="FFFFFF"/>
                </a:solidFill>
              </a:rPr>
              <a:t>Simulate</a:t>
            </a:r>
            <a:endParaRPr lang="en-US" sz="2100" dirty="0"/>
          </a:p>
        </p:txBody>
      </p:sp>
      <p:sp>
        <p:nvSpPr>
          <p:cNvPr id="20" name="Text 18"/>
          <p:cNvSpPr/>
          <p:nvPr/>
        </p:nvSpPr>
        <p:spPr>
          <a:xfrm>
            <a:off x="6428232" y="4215384"/>
            <a:ext cx="1920240" cy="384048"/>
          </a:xfrm>
          <a:prstGeom prst="rect">
            <a:avLst/>
          </a:prstGeom>
          <a:noFill/>
          <a:ln/>
        </p:spPr>
        <p:txBody>
          <a:bodyPr wrap="square" lIns="0" tIns="0" rIns="0" bIns="0" rtlCol="0" anchor="ctr">
            <a:normAutofit/>
          </a:bodyPr>
          <a:lstStyle/>
          <a:p>
            <a:pPr marL="0" indent="0">
              <a:buNone/>
            </a:pPr>
            <a:r>
              <a:rPr lang="en-US" sz="1250" dirty="0">
                <a:solidFill>
                  <a:srgbClr val="CBD5E1"/>
                </a:solidFill>
              </a:rPr>
              <a:t>Run boundaries and inspect every affected control.</a:t>
            </a:r>
            <a:endParaRPr lang="en-US" sz="1250" dirty="0"/>
          </a:p>
        </p:txBody>
      </p:sp>
      <p:sp>
        <p:nvSpPr>
          <p:cNvPr id="21" name="Shape 19"/>
          <p:cNvSpPr/>
          <p:nvPr/>
        </p:nvSpPr>
        <p:spPr>
          <a:xfrm>
            <a:off x="8970264" y="2880360"/>
            <a:ext cx="2395728" cy="1874520"/>
          </a:xfrm>
          <a:prstGeom prst="roundRect">
            <a:avLst>
              <a:gd name="adj" fmla="val 3415"/>
            </a:avLst>
          </a:prstGeom>
          <a:solidFill>
            <a:srgbClr val="172033"/>
          </a:solidFill>
          <a:ln w="12700">
            <a:solidFill>
              <a:srgbClr val="334155"/>
            </a:solidFill>
            <a:prstDash val="solid"/>
          </a:ln>
        </p:spPr>
        <p:txBody>
          <a:bodyPr/>
          <a:lstStyle/>
          <a:p>
            <a:endParaRPr lang="en-BE"/>
          </a:p>
        </p:txBody>
      </p:sp>
      <p:sp>
        <p:nvSpPr>
          <p:cNvPr id="22" name="Shape 20"/>
          <p:cNvSpPr/>
          <p:nvPr/>
        </p:nvSpPr>
        <p:spPr>
          <a:xfrm>
            <a:off x="9189720" y="3136392"/>
            <a:ext cx="502920" cy="502920"/>
          </a:xfrm>
          <a:prstGeom prst="ellipse">
            <a:avLst/>
          </a:prstGeom>
          <a:solidFill>
            <a:srgbClr val="2DD4BF"/>
          </a:solidFill>
          <a:ln w="12700">
            <a:solidFill>
              <a:srgbClr val="2DD4BF"/>
            </a:solidFill>
            <a:prstDash val="solid"/>
          </a:ln>
        </p:spPr>
        <p:txBody>
          <a:bodyPr/>
          <a:lstStyle/>
          <a:p>
            <a:endParaRPr lang="en-BE"/>
          </a:p>
        </p:txBody>
      </p:sp>
      <p:sp>
        <p:nvSpPr>
          <p:cNvPr id="23" name="Text 21"/>
          <p:cNvSpPr/>
          <p:nvPr/>
        </p:nvSpPr>
        <p:spPr>
          <a:xfrm>
            <a:off x="9189720" y="3273552"/>
            <a:ext cx="502920" cy="146304"/>
          </a:xfrm>
          <a:prstGeom prst="rect">
            <a:avLst/>
          </a:prstGeom>
          <a:noFill/>
          <a:ln/>
        </p:spPr>
        <p:txBody>
          <a:bodyPr wrap="square" lIns="0" tIns="0" rIns="0" bIns="0" rtlCol="0" anchor="ctr"/>
          <a:lstStyle/>
          <a:p>
            <a:pPr marL="0" indent="0" algn="ctr">
              <a:buNone/>
            </a:pPr>
            <a:r>
              <a:rPr lang="en-US" sz="1200" b="1" dirty="0">
                <a:solidFill>
                  <a:srgbClr val="0F172A"/>
                </a:solidFill>
              </a:rPr>
              <a:t>4</a:t>
            </a:r>
            <a:endParaRPr lang="en-US" sz="1200" dirty="0"/>
          </a:p>
        </p:txBody>
      </p:sp>
      <p:sp>
        <p:nvSpPr>
          <p:cNvPr id="24" name="Text 22"/>
          <p:cNvSpPr/>
          <p:nvPr/>
        </p:nvSpPr>
        <p:spPr>
          <a:xfrm>
            <a:off x="9189720" y="3822192"/>
            <a:ext cx="1920240" cy="274320"/>
          </a:xfrm>
          <a:prstGeom prst="rect">
            <a:avLst/>
          </a:prstGeom>
          <a:noFill/>
          <a:ln/>
        </p:spPr>
        <p:txBody>
          <a:bodyPr wrap="square" lIns="0" tIns="0" rIns="0" bIns="0" rtlCol="0" anchor="ctr"/>
          <a:lstStyle/>
          <a:p>
            <a:pPr marL="0" indent="0">
              <a:buNone/>
            </a:pPr>
            <a:r>
              <a:rPr lang="en-US" sz="2100" b="1" dirty="0">
                <a:solidFill>
                  <a:srgbClr val="FFFFFF"/>
                </a:solidFill>
              </a:rPr>
              <a:t>Agree</a:t>
            </a:r>
            <a:endParaRPr lang="en-US" sz="2100" dirty="0"/>
          </a:p>
        </p:txBody>
      </p:sp>
      <p:sp>
        <p:nvSpPr>
          <p:cNvPr id="25" name="Text 23"/>
          <p:cNvSpPr/>
          <p:nvPr/>
        </p:nvSpPr>
        <p:spPr>
          <a:xfrm>
            <a:off x="9189720" y="4215384"/>
            <a:ext cx="1920240" cy="384048"/>
          </a:xfrm>
          <a:prstGeom prst="rect">
            <a:avLst/>
          </a:prstGeom>
          <a:noFill/>
          <a:ln/>
        </p:spPr>
        <p:txBody>
          <a:bodyPr wrap="square" lIns="0" tIns="0" rIns="0" bIns="0" rtlCol="0" anchor="ctr">
            <a:normAutofit/>
          </a:bodyPr>
          <a:lstStyle/>
          <a:p>
            <a:pPr marL="0" indent="0">
              <a:buNone/>
            </a:pPr>
            <a:r>
              <a:rPr lang="en-US" sz="1250" dirty="0">
                <a:solidFill>
                  <a:srgbClr val="CBD5E1"/>
                </a:solidFill>
              </a:rPr>
              <a:t>Choose the guardrail before production adoption.</a:t>
            </a:r>
            <a:endParaRPr lang="en-US" sz="1250" dirty="0"/>
          </a:p>
        </p:txBody>
      </p:sp>
      <p:sp>
        <p:nvSpPr>
          <p:cNvPr id="26" name="Text 24"/>
          <p:cNvSpPr/>
          <p:nvPr/>
        </p:nvSpPr>
        <p:spPr>
          <a:xfrm>
            <a:off x="1051560" y="5376672"/>
            <a:ext cx="10104120" cy="594360"/>
          </a:xfrm>
          <a:prstGeom prst="rect">
            <a:avLst/>
          </a:prstGeom>
          <a:noFill/>
          <a:ln/>
        </p:spPr>
        <p:txBody>
          <a:bodyPr wrap="square" lIns="0" tIns="0" rIns="0" bIns="0" rtlCol="0" anchor="ctr">
            <a:normAutofit/>
          </a:bodyPr>
          <a:lstStyle/>
          <a:p>
            <a:pPr marL="0" indent="0" algn="ctr">
              <a:buNone/>
            </a:pPr>
            <a:r>
              <a:rPr lang="en-US" sz="2500" b="1" dirty="0">
                <a:solidFill>
                  <a:srgbClr val="2DD4BF"/>
                </a:solidFill>
              </a:rPr>
              <a:t>Productive adoption. Predictable spend. Guardrails tested before production.</a:t>
            </a:r>
            <a:endParaRPr lang="en-US" sz="2500" dirty="0"/>
          </a:p>
        </p:txBody>
      </p:sp>
      <p:sp>
        <p:nvSpPr>
          <p:cNvPr id="27" name="Text 25"/>
          <p:cNvSpPr/>
          <p:nvPr/>
        </p:nvSpPr>
        <p:spPr>
          <a:xfrm>
            <a:off x="566928" y="6510528"/>
            <a:ext cx="3840480" cy="164592"/>
          </a:xfrm>
          <a:prstGeom prst="rect">
            <a:avLst/>
          </a:prstGeom>
          <a:noFill/>
          <a:ln/>
        </p:spPr>
        <p:txBody>
          <a:bodyPr wrap="square" lIns="0" tIns="0" rIns="0" bIns="0" rtlCol="0" anchor="ctr"/>
          <a:lstStyle/>
          <a:p>
            <a:pPr marL="0" indent="0">
              <a:buNone/>
            </a:pPr>
            <a:r>
              <a:rPr lang="en-US" sz="900" b="1" kern="0" spc="140">
                <a:solidFill>
                  <a:srgbClr val="94A3B8"/>
                </a:solidFill>
                <a:latin typeface="Aptos" pitchFamily="34" charset="0"/>
                <a:ea typeface="Aptos" pitchFamily="34" charset="-122"/>
                <a:cs typeface="Aptos" pitchFamily="34" charset="-120"/>
              </a:rPr>
              <a:t>GITHUB </a:t>
            </a:r>
            <a:r>
              <a:rPr lang="en-US" sz="900" b="1" kern="0" spc="140" dirty="0">
                <a:solidFill>
                  <a:srgbClr val="94A3B8"/>
                </a:solidFill>
                <a:latin typeface="Aptos" pitchFamily="34" charset="0"/>
                <a:ea typeface="Aptos" pitchFamily="34" charset="-122"/>
                <a:cs typeface="Aptos" pitchFamily="34" charset="-120"/>
              </a:rPr>
              <a:t>COPILOT </a:t>
            </a:r>
            <a:r>
              <a:rPr lang="en-US" sz="900" b="1" kern="0" spc="140">
                <a:solidFill>
                  <a:srgbClr val="94A3B8"/>
                </a:solidFill>
                <a:latin typeface="Aptos" pitchFamily="34" charset="0"/>
                <a:ea typeface="Aptos" pitchFamily="34" charset="-122"/>
                <a:cs typeface="Aptos" pitchFamily="34" charset="-120"/>
              </a:rPr>
              <a:t>COST COMPASS</a:t>
            </a:r>
            <a:r>
              <a:rPr lang="en-US" sz="900" b="1" kern="0" spc="140" dirty="0">
                <a:solidFill>
                  <a:srgbClr val="94A3B8"/>
                </a:solidFill>
                <a:latin typeface="Aptos" pitchFamily="34" charset="0"/>
                <a:ea typeface="Aptos" pitchFamily="34" charset="-122"/>
                <a:cs typeface="Aptos" pitchFamily="34" charset="-120"/>
              </a:rPr>
              <a:t>  ·  5:20–6:00</a:t>
            </a:r>
            <a:endParaRPr lang="en-US" sz="900" dirty="0"/>
          </a:p>
        </p:txBody>
      </p:sp>
      <p:sp>
        <p:nvSpPr>
          <p:cNvPr id="28" name="Text 26"/>
          <p:cNvSpPr/>
          <p:nvPr/>
        </p:nvSpPr>
        <p:spPr>
          <a:xfrm>
            <a:off x="11109960" y="6473952"/>
            <a:ext cx="475488" cy="201168"/>
          </a:xfrm>
          <a:prstGeom prst="rect">
            <a:avLst/>
          </a:prstGeom>
          <a:noFill/>
          <a:ln/>
        </p:spPr>
        <p:txBody>
          <a:bodyPr wrap="square" lIns="0" tIns="0" rIns="0" bIns="0" rtlCol="0" anchor="ctr"/>
          <a:lstStyle/>
          <a:p>
            <a:pPr marL="0" indent="0" algn="r">
              <a:buNone/>
            </a:pPr>
            <a:r>
              <a:rPr lang="en-US" sz="1000" b="1" dirty="0">
                <a:solidFill>
                  <a:srgbClr val="2DD4BF"/>
                </a:solidFill>
                <a:latin typeface="Aptos" pitchFamily="34" charset="0"/>
                <a:ea typeface="Aptos" pitchFamily="34" charset="-122"/>
                <a:cs typeface="Aptos" pitchFamily="34" charset="-120"/>
              </a:rPr>
              <a:t>07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TotalTime>
  <Words>1086</Words>
  <Application>Microsoft Office PowerPoint</Application>
  <PresentationFormat>Widescreen</PresentationFormat>
  <Paragraphs>109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GitHub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Budget Lab: understand the rules before the bill arrives</dc:title>
  <dc:subject>Six-minute Copilot Budget Lab product demonstration</dc:subject>
  <dc:creator>GitHub Copilot</dc:creator>
  <cp:lastModifiedBy>Sujith Quintelier</cp:lastModifiedBy>
  <cp:revision>2</cp:revision>
  <dcterms:created xsi:type="dcterms:W3CDTF">2026-09-17T16:23:47Z</dcterms:created>
  <dcterms:modified xsi:type="dcterms:W3CDTF">2026-09-17T17:10:56Z</dcterms:modified>
</cp:coreProperties>
</file>